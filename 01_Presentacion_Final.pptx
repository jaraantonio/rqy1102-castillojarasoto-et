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lBQ8fIZgGxzkBJaMtE5mFOgkA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28470C-B8BC-45AC-88F5-8E6710A3B9E8}">
  <a:tblStyle styleId="{3228470C-B8BC-45AC-88F5-8E6710A3B9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hyperlink" Target="https://red-shift-68373201.figma.site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DE SOFTWARE | RQY1102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963" y="4463247"/>
            <a:ext cx="4536009" cy="114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2"/>
          <p:cNvGrpSpPr/>
          <p:nvPr/>
        </p:nvGrpSpPr>
        <p:grpSpPr>
          <a:xfrm>
            <a:off x="3774275" y="1045414"/>
            <a:ext cx="7476775" cy="5889061"/>
            <a:chOff x="-334824" y="-474273"/>
            <a:chExt cx="7476775" cy="5210175"/>
          </a:xfrm>
        </p:grpSpPr>
        <p:sp>
          <p:nvSpPr>
            <p:cNvPr id="93" name="Google Shape;93;p2"/>
            <p:cNvSpPr/>
            <p:nvPr/>
          </p:nvSpPr>
          <p:spPr>
            <a:xfrm rot="10800000">
              <a:off x="289951" y="-474254"/>
              <a:ext cx="6669300" cy="1922400"/>
            </a:xfrm>
            <a:prstGeom prst="homePlate">
              <a:avLst>
                <a:gd fmla="val 50000" name="adj"/>
              </a:avLst>
            </a:prstGeom>
            <a:solidFill>
              <a:srgbClr val="5998D4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420474" y="-474273"/>
              <a:ext cx="4774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532975" spcFirstLastPara="1" rIns="16357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es-CL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Antonio Jara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Arquitecto de Software y Modelador UML 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Definición de la arquitectura de microservicios, elaboración y revisión de los diagramas del modelo 4+1, y apoyo en la coherencia técnica del DAS. 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04276" y="-350182"/>
              <a:ext cx="1631400" cy="1514700"/>
            </a:xfrm>
            <a:prstGeom prst="ellipse">
              <a:avLst/>
            </a:prstGeom>
            <a:solidFill>
              <a:srgbClr val="C1D2EA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 rot="10800000">
              <a:off x="1269451" y="1490470"/>
              <a:ext cx="5699400" cy="1575300"/>
            </a:xfrm>
            <a:prstGeom prst="homePlate">
              <a:avLst>
                <a:gd fmla="val 50000" name="adj"/>
              </a:avLst>
            </a:prstGeom>
            <a:solidFill>
              <a:srgbClr val="5998D4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2065651" y="1505177"/>
              <a:ext cx="5076300" cy="12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532975" spcFirstLastPara="1" rIns="16357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es-CL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Antonella Castillo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de Requisitos y Planificación 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Levantamiento y documentación de requisitos funcionales y no funcionales, elaboración de la EDT y Carta Gantt, y apoyo en la documentación y trazabilidad.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04276" y="1519677"/>
              <a:ext cx="1631400" cy="1439700"/>
            </a:xfrm>
            <a:prstGeom prst="ellipse">
              <a:avLst/>
            </a:prstGeom>
            <a:solidFill>
              <a:srgbClr val="C1D2EA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 rot="10800000">
              <a:off x="409501" y="3140501"/>
              <a:ext cx="6523500" cy="1595400"/>
            </a:xfrm>
            <a:prstGeom prst="homePlate">
              <a:avLst>
                <a:gd fmla="val 50000" name="adj"/>
              </a:avLst>
            </a:prstGeom>
            <a:solidFill>
              <a:srgbClr val="5998D4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731823" y="3140512"/>
              <a:ext cx="4774200" cy="134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532975" spcFirstLastPara="1" rIns="16357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es-CL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Florencia Soto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Diseñadora UX/UI y Analista de Calidad 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Diseño de las vistas del Residente y Administrador en Figma, desarrollo del flujo RF-16, evaluación heurística de Nielsen y revisión de casos de prueba. 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-334824" y="3218351"/>
              <a:ext cx="1755300" cy="1439700"/>
            </a:xfrm>
            <a:prstGeom prst="ellipse">
              <a:avLst/>
            </a:prstGeom>
            <a:solidFill>
              <a:srgbClr val="C1D2EA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INTEGRANTES, ROLES Y TIPO DE ORGANIZACIÓN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714909" y="2169769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/ Necesidad del Cliente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Edificio El Mirador cuenta con 160 unidades departamentales, el 60% son propietarios y el 40% arrendatarios.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 con p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rocesos administrativos manuales, lo que dificulta:</a:t>
            </a:r>
            <a:endParaRPr/>
          </a:p>
          <a:p>
            <a:pPr indent="-3302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Ausencia de sistema automatizado para la gestión de gastos comunes, pagos, notificaciones y comunicación con los residentes.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Morosidad recurrente y falta de transparencia.</a:t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Y PROPUESTA DE SOLUCIÓN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4" name="Google Shape;114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 de Software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 de gestión administrativa basada en una arquitectura de microservicios, organizada en siete ámbitos funcionales: </a:t>
            </a:r>
            <a:endParaRPr/>
          </a:p>
          <a:p>
            <a:pPr indent="-330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Usuarios y Acceso</a:t>
            </a:r>
            <a:endParaRPr/>
          </a:p>
          <a:p>
            <a:pPr indent="-330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Residentes y Unidades</a:t>
            </a:r>
            <a:endParaRPr/>
          </a:p>
          <a:p>
            <a:pPr indent="-330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Financiera y Cobranza</a:t>
            </a:r>
            <a:endParaRPr/>
          </a:p>
          <a:p>
            <a:pPr indent="-330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Notificaciones y Comunicaciones</a:t>
            </a:r>
            <a:endParaRPr/>
          </a:p>
          <a:p>
            <a:pPr indent="-330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Solicitudes y Atención</a:t>
            </a:r>
            <a:endParaRPr/>
          </a:p>
          <a:p>
            <a:pPr indent="-330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Consultas y Visualización</a:t>
            </a:r>
            <a:endParaRPr/>
          </a:p>
          <a:p>
            <a:pPr indent="-330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Reportes y Análisis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614516" y="4686085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SO/IEC 12207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referencia utilizada para estructurar el ciclo de vida del software, coherente con la metodología Cascada adoptada. 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IEEE 830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referencia utilizada para organizar la especificación de requisitos funcionales y no funcionales. 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ISO/IEC 25000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marco de calidad considerado en la fase de pruebas, especialmente en usabilidad, seguridad, rendimiento y mantenibilidad. </a:t>
            </a:r>
            <a:endParaRPr/>
          </a:p>
        </p:txBody>
      </p:sp>
      <p:pic>
        <p:nvPicPr>
          <p:cNvPr descr="EscuelaIT Duoc UC - Escuela de Informática y Telecomunicaciones Duoc UC - Duoc  UC | LinkedIn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0" y="1384304"/>
            <a:ext cx="12192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DEL SOFTWARE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5" name="Google Shape;125;p4"/>
          <p:cNvSpPr txBox="1"/>
          <p:nvPr/>
        </p:nvSpPr>
        <p:spPr>
          <a:xfrm>
            <a:off x="1" y="40824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Fases aplicadas al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14515" y="2040571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Metodología: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Cascada / Waterfall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Definición del problema, validación de requisitos y modelado de procesos</a:t>
            </a:r>
            <a:b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Arquitectura de microservicios, diagramas UML (4+1) y prototipado de interfaz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Prototipo navegable de alta fidelidad.  (RF-01, RF-02, RF-16)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Casos de prueba y evaluación heurística de Nielsen (ISO/IEC 25000)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Mantenimiento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Documentación técnica, control de versiones para mejoras iterativas del prototipo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OBJETIVOS, ALCANCE Y LIMITACIONES DEL PROYECTO</a:t>
            </a:r>
            <a:endParaRPr/>
          </a:p>
        </p:txBody>
      </p:sp>
      <p:cxnSp>
        <p:nvCxnSpPr>
          <p:cNvPr id="134" name="Google Shape;134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5" name="Google Shape;135;p5"/>
          <p:cNvSpPr txBox="1"/>
          <p:nvPr/>
        </p:nvSpPr>
        <p:spPr>
          <a:xfrm>
            <a:off x="1039402" y="2078986"/>
            <a:ext cx="103857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Objetivos: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administración del edificio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Automatizar gestión de pagos, cobranza y gastos comunes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morosidad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transparencia con acceso más fácil a la información</a:t>
            </a:r>
            <a:endParaRPr/>
          </a:p>
          <a:p>
            <a:pPr indent="-1841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de una solución de gestión administrativa compuesta por siete ámbitos funcionales.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Prototipo navegable para los roles Administrador y Residente.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Ámbito principal prototipado: autenticación y gestión de quejas asociada al RF-16.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Limitaciones: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prototipo no constituye software funcional, es una validación de diseño en Figma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implementaron los módulos como Finanzas , Notificaciones, Reportes ni Información de Unidad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no fue probado con usuarios reales del edificio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0" y="6076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ESTRATEGIAS DE GESTIÓN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4" name="Google Shape;144;p6"/>
          <p:cNvSpPr txBox="1"/>
          <p:nvPr/>
        </p:nvSpPr>
        <p:spPr>
          <a:xfrm>
            <a:off x="253075" y="1166400"/>
            <a:ext cx="11793600" cy="55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gestión: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Modelo Cascada/Waterfall, con fases secuenciales y entregables validados al cierre de cada una.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y estimación: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estructurado en 16 semanas.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Siete fases del proyecto.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Estimación total de 496 horas-persona.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 total estimado de $12.400.000.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Descomposición del trabajo mediante EDT y Carta Gantt.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calidad: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Evaluación de atributos de calidad mediante ISO/IEC 25000, considerando usabilidad, seguridad, rendimiento y mantenibilidad.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de la evaluación heurística de Nielsen.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Elaboración y ejecución del plan de pruebas.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 y trazabilidad: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 del DAS versionada mediante GitHub con historial de revisiones.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Prototipo con registro secuencial de versiones y cambios realizados en Figma.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Trazabilidad entre requisitos, prototipo, casos de prueba y acciones de mejora.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riesgos: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arquitectura basada en microservicios reduce el acoplamiento y favorece la mantenibilidad y escalabilidad futura.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revisiones cruzadas entre requisitos, diagramas, prototipo y pruebas reducen el riesgo de inconsistencias entre los entregables.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23251" y="758027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DEL PROYECTO (EDT + CARTA GANTT)</a:t>
            </a:r>
            <a:endParaRPr/>
          </a:p>
        </p:txBody>
      </p:sp>
      <p:cxnSp>
        <p:nvCxnSpPr>
          <p:cNvPr id="152" name="Google Shape;152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53" name="Google Shape;15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4675" y="1404525"/>
            <a:ext cx="9062651" cy="537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-1" y="1016933"/>
            <a:ext cx="12192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 Escenario: Casos de Uso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2" name="Google Shape;16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5450" y="2597258"/>
            <a:ext cx="8801100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7" name="Google Shape;1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0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1" y="101266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 Lógica: Clases</a:t>
            </a:r>
            <a:endParaRPr/>
          </a:p>
        </p:txBody>
      </p:sp>
      <p:cxnSp>
        <p:nvCxnSpPr>
          <p:cNvPr id="170" name="Google Shape;170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1" name="Google Shape;17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11569"/>
            <a:ext cx="11887201" cy="3420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6" name="Google Shape;1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1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1" y="122692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 Desarrollo: Componentes</a:t>
            </a:r>
            <a:endParaRPr/>
          </a:p>
        </p:txBody>
      </p:sp>
      <p:cxnSp>
        <p:nvCxnSpPr>
          <p:cNvPr id="179" name="Google Shape;179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0" name="Google Shape;18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25826"/>
            <a:ext cx="11887201" cy="2921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5" name="Google Shape;1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2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-1" y="1085457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 Proceso: Actividad</a:t>
            </a:r>
            <a:endParaRPr/>
          </a:p>
        </p:txBody>
      </p:sp>
      <p:cxnSp>
        <p:nvCxnSpPr>
          <p:cNvPr id="188" name="Google Shape;188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9" name="Google Shape;18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413" y="1801982"/>
            <a:ext cx="5059175" cy="4821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4" name="Google Shape;1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3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1" y="75803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 Física: Despliegue</a:t>
            </a:r>
            <a:endParaRPr/>
          </a:p>
        </p:txBody>
      </p:sp>
      <p:cxnSp>
        <p:nvCxnSpPr>
          <p:cNvPr id="197" name="Google Shape;197;p1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8" name="Google Shape;19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1600" y="1350824"/>
            <a:ext cx="6468799" cy="544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3" name="Google Shape;2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4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 Y NO FUNCIONALES</a:t>
            </a:r>
            <a:endParaRPr/>
          </a:p>
        </p:txBody>
      </p:sp>
      <p:cxnSp>
        <p:nvCxnSpPr>
          <p:cNvPr id="206" name="Google Shape;206;p1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7" name="Google Shape;207;p14"/>
          <p:cNvSpPr txBox="1"/>
          <p:nvPr/>
        </p:nvSpPr>
        <p:spPr>
          <a:xfrm>
            <a:off x="166375" y="2370425"/>
            <a:ext cx="58443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i="1" lang="es-CL" sz="1100">
                <a:solidFill>
                  <a:schemeClr val="dk1"/>
                </a:solidFill>
              </a:rPr>
              <a:t>RF-01: Gestión de usuarios</a:t>
            </a:r>
            <a:r>
              <a:rPr b="1" i="1" lang="es-CL" sz="1100">
                <a:solidFill>
                  <a:schemeClr val="dk1"/>
                </a:solidFill>
              </a:rPr>
              <a:t> -</a:t>
            </a:r>
            <a:r>
              <a:rPr b="1" i="1" lang="es-CL" sz="1100">
                <a:solidFill>
                  <a:schemeClr val="dk1"/>
                </a:solidFill>
              </a:rPr>
              <a:t> Registro, actualización y desactivación de usuarios.</a:t>
            </a:r>
            <a:endParaRPr b="1" i="1"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i="1" lang="es-CL" sz="1100">
                <a:solidFill>
                  <a:schemeClr val="dk1"/>
                </a:solidFill>
              </a:rPr>
              <a:t>RF-02: Gestión de roles y permisos</a:t>
            </a:r>
            <a:r>
              <a:rPr b="1" i="1" lang="es-CL" sz="1100">
                <a:solidFill>
                  <a:schemeClr val="dk1"/>
                </a:solidFill>
              </a:rPr>
              <a:t> -</a:t>
            </a:r>
            <a:r>
              <a:rPr b="1" i="1" lang="es-CL" sz="1100">
                <a:solidFill>
                  <a:schemeClr val="dk1"/>
                </a:solidFill>
              </a:rPr>
              <a:t> Asignación de permisos diferenciados según el tipo de usuario.</a:t>
            </a:r>
            <a:endParaRPr b="1" i="1"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RF-04: Gestión de residentes</a:t>
            </a:r>
            <a:r>
              <a:rPr lang="es-CL" sz="1100">
                <a:solidFill>
                  <a:schemeClr val="dk1"/>
                </a:solidFill>
              </a:rPr>
              <a:t> -</a:t>
            </a:r>
            <a:r>
              <a:rPr lang="es-CL" sz="1100">
                <a:solidFill>
                  <a:schemeClr val="dk1"/>
                </a:solidFill>
              </a:rPr>
              <a:t> Registro, actualización, desactivación y asociación con unidades habitacionales.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RF-06: Cálculo automático de cuotas</a:t>
            </a:r>
            <a:r>
              <a:rPr lang="es-CL" sz="1100">
                <a:solidFill>
                  <a:schemeClr val="dk1"/>
                </a:solidFill>
              </a:rPr>
              <a:t> -</a:t>
            </a:r>
            <a:r>
              <a:rPr lang="es-CL" sz="1100">
                <a:solidFill>
                  <a:schemeClr val="dk1"/>
                </a:solidFill>
              </a:rPr>
              <a:t> Generación automática de cuotas según los gastos registrados.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RF-10: Gestión de morosidad</a:t>
            </a:r>
            <a:r>
              <a:rPr lang="es-CL" sz="1100">
                <a:solidFill>
                  <a:schemeClr val="dk1"/>
                </a:solidFill>
              </a:rPr>
              <a:t> -</a:t>
            </a:r>
            <a:r>
              <a:rPr lang="es-CL" sz="1100">
                <a:solidFill>
                  <a:schemeClr val="dk1"/>
                </a:solidFill>
              </a:rPr>
              <a:t> Clasificación y actualización automática del estado de las deudas.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RF-15: Registro de solicitudes de mantenimiento</a:t>
            </a:r>
            <a:r>
              <a:rPr lang="es-CL" sz="1100">
                <a:solidFill>
                  <a:schemeClr val="dk1"/>
                </a:solidFill>
              </a:rPr>
              <a:t> -</a:t>
            </a:r>
            <a:r>
              <a:rPr lang="es-CL" sz="1100">
                <a:solidFill>
                  <a:schemeClr val="dk1"/>
                </a:solidFill>
              </a:rPr>
              <a:t> Registro, seguimiento, asignación de responsable y cierre.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i="1" lang="es-CL" sz="1100">
                <a:solidFill>
                  <a:schemeClr val="dk1"/>
                </a:solidFill>
              </a:rPr>
              <a:t>RF-16: Gestión de solicitudes de quejas</a:t>
            </a:r>
            <a:r>
              <a:rPr b="1" i="1" lang="es-CL" sz="1100">
                <a:solidFill>
                  <a:schemeClr val="dk1"/>
                </a:solidFill>
              </a:rPr>
              <a:t> -</a:t>
            </a:r>
            <a:r>
              <a:rPr b="1" i="1" lang="es-CL" sz="1100">
                <a:solidFill>
                  <a:schemeClr val="dk1"/>
                </a:solidFill>
              </a:rPr>
              <a:t> Registro, respuesta, actualización de estado, urgencia y cierre.</a:t>
            </a:r>
            <a:endParaRPr b="1" i="1"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RF-21: Panel de control administrativo</a:t>
            </a:r>
            <a:r>
              <a:rPr lang="es-CL" sz="1100">
                <a:solidFill>
                  <a:schemeClr val="dk1"/>
                </a:solidFill>
              </a:rPr>
              <a:t> -</a:t>
            </a:r>
            <a:r>
              <a:rPr lang="es-CL" sz="1100">
                <a:solidFill>
                  <a:schemeClr val="dk1"/>
                </a:solidFill>
              </a:rPr>
              <a:t> Visualización de indicadores de morosidad, recaudación y solicitudes.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</p:txBody>
      </p:sp>
      <p:sp>
        <p:nvSpPr>
          <p:cNvPr id="208" name="Google Shape;208;p14"/>
          <p:cNvSpPr txBox="1"/>
          <p:nvPr/>
        </p:nvSpPr>
        <p:spPr>
          <a:xfrm>
            <a:off x="6181325" y="2370425"/>
            <a:ext cx="5574000" cy="3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RNF-01: Usabilidad</a:t>
            </a:r>
            <a:r>
              <a:rPr lang="es-CL" sz="1100">
                <a:solidFill>
                  <a:schemeClr val="dk1"/>
                </a:solidFill>
              </a:rPr>
              <a:t> - Interfaz intuitiva y tareas críticas realizables en un máximo de cinco clics.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RNF-03: Compatibilidad</a:t>
            </a:r>
            <a:r>
              <a:rPr lang="es-CL" sz="1100">
                <a:solidFill>
                  <a:schemeClr val="dk1"/>
                </a:solidFill>
              </a:rPr>
              <a:t> - Diseño responsive y funcionamiento en navegadores modernos.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RNF-04: Rendimiento</a:t>
            </a:r>
            <a:r>
              <a:rPr lang="es-CL" sz="1100">
                <a:solidFill>
                  <a:schemeClr val="dk1"/>
                </a:solidFill>
              </a:rPr>
              <a:t> - Respuesta de consultas comunes en un máximo de tres segundos.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RNF-05: Soporte multiusuario</a:t>
            </a:r>
            <a:r>
              <a:rPr lang="es-CL" sz="1100">
                <a:solidFill>
                  <a:schemeClr val="dk1"/>
                </a:solidFill>
              </a:rPr>
              <a:t> - Uso simultáneo sin degradación crítica.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RNF-07: Disponibilidad</a:t>
            </a:r>
            <a:r>
              <a:rPr lang="es-CL" sz="1100">
                <a:solidFill>
                  <a:schemeClr val="dk1"/>
                </a:solidFill>
              </a:rPr>
              <a:t> - Disponibilidad mensual mínima del 99 %.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RNF-10: Seguridad de acceso</a:t>
            </a:r>
            <a:r>
              <a:rPr lang="es-CL" sz="1100">
                <a:solidFill>
                  <a:schemeClr val="dk1"/>
                </a:solidFill>
              </a:rPr>
              <a:t> - Autenticación y control de acceso según roles.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RNF-12: Trazabilidad</a:t>
            </a:r>
            <a:r>
              <a:rPr lang="es-CL" sz="1100">
                <a:solidFill>
                  <a:schemeClr val="dk1"/>
                </a:solidFill>
              </a:rPr>
              <a:t> - Registro auditable de usuario, fecha, hora, IP y acción.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RNF-18: Interoperabilidad</a:t>
            </a:r>
            <a:r>
              <a:rPr lang="es-CL" sz="1100">
                <a:solidFill>
                  <a:schemeClr val="dk1"/>
                </a:solidFill>
              </a:rPr>
              <a:t> - Integración con pagos, correo, mensajería y sistemas externos.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3" name="Google Shape;2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“EL MIRADOR”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ESTÁNDARES DE CALIDAD - ISO25000 Y OTROS</a:t>
            </a:r>
            <a:endParaRPr/>
          </a:p>
        </p:txBody>
      </p:sp>
      <p:cxnSp>
        <p:nvCxnSpPr>
          <p:cNvPr id="216" name="Google Shape;216;p1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217" name="Google Shape;217;p16"/>
          <p:cNvGraphicFramePr/>
          <p:nvPr/>
        </p:nvGraphicFramePr>
        <p:xfrm>
          <a:off x="1306585" y="2339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{3228470C-B8BC-45AC-88F5-8E6710A3B9E8}</a:tableStyleId>
              </a:tblPr>
              <a:tblGrid>
                <a:gridCol w="1638775"/>
                <a:gridCol w="4347400"/>
                <a:gridCol w="3592650"/>
              </a:tblGrid>
              <a:tr h="54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/>
                        <a:t>Atributo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/>
                        <a:t>Justificación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/>
                        <a:t>Implementación en el prototipo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4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/>
                        <a:t>Usabilidad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/>
                        <a:t>Diversos niveles de alfabetización digital (RNF-01)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/>
                        <a:t>Navegación clara, consistencia visual y tareas principales realizadas en pocos pasos. 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85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/>
                        <a:t>Seguridad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/>
                        <a:t>Protección de datos personales y financieros (RNF-10)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/>
                        <a:t>Acceso representado mediante RUT, contraseña y vistas diferenciadas según rol.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85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/>
                        <a:t>Rendimiento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Las consultas comunes deben responder en un máximo de 3 segundos. Asociado al </a:t>
                      </a:r>
                      <a:r>
                        <a:rPr b="1" lang="es-CL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RNF-04</a:t>
                      </a:r>
                      <a:r>
                        <a:rPr lang="es-CL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endParaRPr sz="2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/>
                        <a:t>Requisito definido para una futura implementación; no fue validado técnicamente en Figma 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85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/>
                        <a:t>Mantenibilidad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El sistema debe permitir correcciones y futuras ampliaciones sin afectar sus funciones principales. Asociado al </a:t>
                      </a:r>
                      <a:r>
                        <a:rPr b="1" lang="es-CL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RNF-15</a:t>
                      </a:r>
                      <a:r>
                        <a:rPr lang="es-CL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/>
                        <a:t>Arquitectura modular basada en microservicios y separación de responsabilidades </a:t>
                      </a:r>
                      <a:endParaRPr sz="16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2" name="Google Shape;2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7"/>
          <p:cNvSpPr txBox="1"/>
          <p:nvPr/>
        </p:nvSpPr>
        <p:spPr>
          <a:xfrm>
            <a:off x="1" y="2707792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PROTOTIPO DE ALTA FIDELIDAD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3822600" y="4129950"/>
            <a:ext cx="45468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Enlace a Prototipo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9" name="Google Shape;2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2451" y="207550"/>
            <a:ext cx="2631100" cy="6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8"/>
          <p:cNvSpPr txBox="1"/>
          <p:nvPr/>
        </p:nvSpPr>
        <p:spPr>
          <a:xfrm>
            <a:off x="0" y="686527"/>
            <a:ext cx="12192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HEURÍSTICA DE NIELSEN Y CASOS DE PRUEBA (ISO25000)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166200" y="2133425"/>
            <a:ext cx="5721300" cy="4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900"/>
              <a:t>Evaluación Heurística</a:t>
            </a:r>
            <a:endParaRPr b="1" sz="19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</a:rPr>
              <a:t>10 problemas de usabilidad detectados.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</a:rPr>
              <a:t>Severidad promedio: 1,6.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</a:rPr>
              <a:t>6 hallazgos de severidad 2.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</a:rPr>
              <a:t>4 hallazgos de severidad 1.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</a:rPr>
              <a:t>Sin problemas de severidad 3 o 4.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Principales hallazgos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Falta de validación en campos obligatorios.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Ausencia de confirmación al registrar una queja.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Acciones administrativas poco visibles dentro del modal.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Ícono incorrecto en el campo RUT.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Falta de advertencia al cancelar con datos ingresados.</a:t>
            </a:r>
            <a:endParaRPr sz="1900"/>
          </a:p>
        </p:txBody>
      </p:sp>
      <p:sp>
        <p:nvSpPr>
          <p:cNvPr id="232" name="Google Shape;232;p18"/>
          <p:cNvSpPr txBox="1"/>
          <p:nvPr/>
        </p:nvSpPr>
        <p:spPr>
          <a:xfrm>
            <a:off x="6470688" y="2211613"/>
            <a:ext cx="57213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Resultados de los casos de prueba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</a:rPr>
              <a:t>23 casos ejecutados.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</a:rPr>
              <a:t>12 aprobados.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</a:rPr>
              <a:t>8 fallidos.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</a:rPr>
              <a:t>3 pendientes.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</a:rPr>
              <a:t>Nivel de aprobación: 52,2 %.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Principales fallos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Validación incorrecta de campos y formato del RUT.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Ausencia de mensajes de confirmación y advertencia.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Problemas de visibilidad y contraste.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Acciones administrativas ocultas durante el desplazamiento.</a:t>
            </a:r>
            <a:endParaRPr sz="1900"/>
          </a:p>
        </p:txBody>
      </p:sp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7" name="Google Shape;2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ACCIONES DE MEJORA Y CONTROL DE VERSIONES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497850" y="2405950"/>
            <a:ext cx="111963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CL" sz="1300"/>
              <a:t>V1 (5 jun): Diseño de Landing Page y Login en Figma, definiendo la estética inicial del edificio.</a:t>
            </a:r>
            <a:endParaRPr sz="1300"/>
          </a:p>
          <a:p>
            <a:pPr indent="-3111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CL" sz="1300"/>
              <a:t>V2 (9 jun): Creación de Dashboards generales con una distribución espacial consistente para ambos perfiles (Administrador y Residente).</a:t>
            </a:r>
            <a:endParaRPr sz="1300"/>
          </a:p>
          <a:p>
            <a:pPr indent="-3111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CL" sz="1300"/>
              <a:t>V3 (13 jun): Desarrollo de vistas intermedias que garantizan una transición lógica e intuitiva hacia la gestión de quejas.</a:t>
            </a:r>
            <a:endParaRPr sz="1300"/>
          </a:p>
          <a:p>
            <a:pPr indent="-3111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CL" sz="1300"/>
              <a:t>V4 (20 jun): Diseño de la vista de Gestión de Quejas, optimizando el seguimiento y acelerando las respuestas.</a:t>
            </a:r>
            <a:endParaRPr sz="1300"/>
          </a:p>
          <a:p>
            <a:pPr indent="-3111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CL" sz="1300"/>
              <a:t>V5 (21 jun): Traspaso a Figma Make para obtener una primera versión navegable del sistema.</a:t>
            </a:r>
            <a:endParaRPr sz="1300"/>
          </a:p>
          <a:p>
            <a:pPr indent="-3111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CL" sz="1300"/>
              <a:t>V6 (22 jun): Ajustes estéticos en Landing y Login, puliendo la experiencia de inicio de sesión.</a:t>
            </a:r>
            <a:endParaRPr sz="1300"/>
          </a:p>
          <a:p>
            <a:pPr indent="-3111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CL" sz="1300"/>
              <a:t>V7 (23 jun): Implementación de microtransiciones fluidas para mejorar visualmente la navegación entre pantallas.</a:t>
            </a:r>
            <a:endParaRPr sz="1300"/>
          </a:p>
          <a:p>
            <a:pPr indent="-3111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CL" sz="1300"/>
              <a:t>V8 (24 jun): Redistribución espacial y ajuste de colores para optimizar el contraste y facilitar la lectura.</a:t>
            </a:r>
            <a:endParaRPr sz="1300"/>
          </a:p>
          <a:p>
            <a:pPr indent="-3111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CL" sz="1300"/>
              <a:t>V9 (25 jun): Ajustes finales de animación y corrección de un bug visual para eliminar el parpadeo entre pantallas.</a:t>
            </a:r>
            <a:endParaRPr sz="1300"/>
          </a:p>
        </p:txBody>
      </p:sp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4" name="Google Shape;2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