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73" r:id="rId9"/>
    <p:sldId id="274" r:id="rId10"/>
    <p:sldId id="275" r:id="rId11"/>
    <p:sldId id="276" r:id="rId12"/>
    <p:sldId id="277" r:id="rId13"/>
    <p:sldId id="278" r:id="rId14"/>
    <p:sldId id="269" r:id="rId15"/>
    <p:sldId id="271" r:id="rId16"/>
    <p:sldId id="270" r:id="rId17"/>
    <p:sldId id="265" r:id="rId18"/>
    <p:sldId id="267" r:id="rId19"/>
    <p:sldId id="268" r:id="rId20"/>
    <p:sldId id="272" r:id="rId21"/>
    <p:sldId id="266" r:id="rId2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E8385C-8A94-16F7-6EB1-03F10E2E1298}" v="5" dt="2026-06-19T20:49:20.9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3" loCatId="picture" qsTypeId="urn:microsoft.com/office/officeart/2005/8/quickstyle/simple1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 dirty="0"/>
            <a:t>Antonio Jara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 dirty="0"/>
            <a:t>Antonella Castillo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MX" dirty="0"/>
            <a:t>Florencia Soto</a:t>
          </a:r>
          <a:endParaRPr lang="es-CL" dirty="0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D546635F-000B-49DF-BB26-293CCA777400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B01A0825-9EDF-4B9A-B345-1B486D914AD4}" type="sibTrans" cxnId="{AC0A7FF3-EEC4-470A-823E-BF7AF1556A99}">
      <dgm:prSet/>
      <dgm:spPr/>
      <dgm:t>
        <a:bodyPr/>
        <a:lstStyle/>
        <a:p>
          <a:endParaRPr lang="es-CL"/>
        </a:p>
      </dgm:t>
    </dgm:pt>
    <dgm:pt modelId="{5437D343-BECF-4620-B6C7-7088D8BBD91B}" type="parTrans" cxnId="{AC0A7FF3-EEC4-470A-823E-BF7AF1556A99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E77C99FF-9D04-40F5-8578-8023E0F56E50}" type="pres">
      <dgm:prSet presAssocID="{BE45140C-C326-4DAA-A267-498AD5117D68}" presName="linearFlow" presStyleCnt="0">
        <dgm:presLayoutVars>
          <dgm:dir/>
          <dgm:resizeHandles val="exact"/>
        </dgm:presLayoutVars>
      </dgm:prSet>
      <dgm:spPr/>
    </dgm:pt>
    <dgm:pt modelId="{F5179BF1-39B0-4ED2-A988-772010AE20DF}" type="pres">
      <dgm:prSet presAssocID="{78BFB295-8F5D-4286-B72B-79142F8F0E13}" presName="composite" presStyleCnt="0"/>
      <dgm:spPr/>
    </dgm:pt>
    <dgm:pt modelId="{1B66C8D7-A18D-4A3A-BAB3-E58F5BDDC35C}" type="pres">
      <dgm:prSet presAssocID="{78BFB295-8F5D-4286-B72B-79142F8F0E13}" presName="imgShp" presStyleLbl="fgImgPlace1" presStyleIdx="0" presStyleCnt="3"/>
      <dgm:spPr/>
    </dgm:pt>
    <dgm:pt modelId="{74C57BFD-B3CB-46A5-B834-89232FAD9340}" type="pres">
      <dgm:prSet presAssocID="{78BFB295-8F5D-4286-B72B-79142F8F0E13}" presName="txShp" presStyleLbl="node1" presStyleIdx="0" presStyleCnt="3">
        <dgm:presLayoutVars>
          <dgm:bulletEnabled val="1"/>
        </dgm:presLayoutVars>
      </dgm:prSet>
      <dgm:spPr/>
    </dgm:pt>
    <dgm:pt modelId="{D8CB83BB-CBD6-4A77-930B-C5CFFB5F28E9}" type="pres">
      <dgm:prSet presAssocID="{E88D0928-51D4-4670-8963-60ABBB193E13}" presName="spacing" presStyleCnt="0"/>
      <dgm:spPr/>
    </dgm:pt>
    <dgm:pt modelId="{6EDF432B-BED5-4A21-893B-1A10E64118C8}" type="pres">
      <dgm:prSet presAssocID="{02A34BC0-F8BA-4A89-87A4-4F20079DFD06}" presName="composite" presStyleCnt="0"/>
      <dgm:spPr/>
    </dgm:pt>
    <dgm:pt modelId="{D681097F-95D8-44DC-975E-46E914CE7B5C}" type="pres">
      <dgm:prSet presAssocID="{02A34BC0-F8BA-4A89-87A4-4F20079DFD06}" presName="imgShp" presStyleLbl="fgImgPlace1" presStyleIdx="1" presStyleCnt="3"/>
      <dgm:spPr/>
    </dgm:pt>
    <dgm:pt modelId="{0F9B1E78-A591-4BD9-AEDF-46D2D3F09897}" type="pres">
      <dgm:prSet presAssocID="{02A34BC0-F8BA-4A89-87A4-4F20079DFD06}" presName="txShp" presStyleLbl="node1" presStyleIdx="1" presStyleCnt="3">
        <dgm:presLayoutVars>
          <dgm:bulletEnabled val="1"/>
        </dgm:presLayoutVars>
      </dgm:prSet>
      <dgm:spPr/>
    </dgm:pt>
    <dgm:pt modelId="{4FC70210-8583-4DC4-85DC-91B93BD79A70}" type="pres">
      <dgm:prSet presAssocID="{44AB630E-CD8B-4223-9F51-5EEE4E054B0A}" presName="spacing" presStyleCnt="0"/>
      <dgm:spPr/>
    </dgm:pt>
    <dgm:pt modelId="{FBCB7561-6910-4890-AF96-A4508F36D414}" type="pres">
      <dgm:prSet presAssocID="{99FF0D0F-282A-4030-9AF5-3B7621881539}" presName="composite" presStyleCnt="0"/>
      <dgm:spPr/>
    </dgm:pt>
    <dgm:pt modelId="{2D5FBDDD-704A-4400-B863-4B5B31AA72E6}" type="pres">
      <dgm:prSet presAssocID="{99FF0D0F-282A-4030-9AF5-3B7621881539}" presName="imgShp" presStyleLbl="fgImgPlace1" presStyleIdx="2" presStyleCnt="3"/>
      <dgm:spPr/>
    </dgm:pt>
    <dgm:pt modelId="{55C12D7E-1452-455E-94B1-40122A5AB184}" type="pres">
      <dgm:prSet presAssocID="{99FF0D0F-282A-4030-9AF5-3B7621881539}" presName="txShp" presStyleLbl="node1" presStyleIdx="2" presStyleCnt="3">
        <dgm:presLayoutVars>
          <dgm:bulletEnabled val="1"/>
        </dgm:presLayoutVars>
      </dgm:prSet>
      <dgm:spPr/>
    </dgm:pt>
  </dgm:ptLst>
  <dgm:cxnLst>
    <dgm:cxn modelId="{7E75B30A-AFD9-4985-A9B3-B5D78A5ED628}" type="presOf" srcId="{EA3B2395-55AF-495E-9D6B-329D2886612F}" destId="{0F9B1E78-A591-4BD9-AEDF-46D2D3F09897}" srcOrd="0" destOrd="1" presId="urn:microsoft.com/office/officeart/2005/8/layout/vList3"/>
    <dgm:cxn modelId="{DFC1BF0F-F092-4218-A6E5-BD062D273A7C}" type="presOf" srcId="{55A2A9EB-4C26-43C3-B721-D475B10BC39B}" destId="{0F9B1E78-A591-4BD9-AEDF-46D2D3F09897}" srcOrd="0" destOrd="2" presId="urn:microsoft.com/office/officeart/2005/8/layout/vList3"/>
    <dgm:cxn modelId="{ED4E3F2C-10C3-4923-8A3D-008DEC420D40}" type="presOf" srcId="{02A34BC0-F8BA-4A89-87A4-4F20079DFD06}" destId="{0F9B1E78-A591-4BD9-AEDF-46D2D3F09897}" srcOrd="0" destOrd="0" presId="urn:microsoft.com/office/officeart/2005/8/layout/vList3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F08C4935-CA88-4493-807B-11933E51A059}" type="presOf" srcId="{99FF0D0F-282A-4030-9AF5-3B7621881539}" destId="{55C12D7E-1452-455E-94B1-40122A5AB184}" srcOrd="0" destOrd="0" presId="urn:microsoft.com/office/officeart/2005/8/layout/vList3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A05C5948-FD86-44D0-A022-0F817D0E39C7}" type="presOf" srcId="{BE45140C-C326-4DAA-A267-498AD5117D68}" destId="{E77C99FF-9D04-40F5-8578-8023E0F56E50}" srcOrd="0" destOrd="0" presId="urn:microsoft.com/office/officeart/2005/8/layout/vList3"/>
    <dgm:cxn modelId="{C4288A58-D3F3-4F23-B447-3B47334A4338}" type="presOf" srcId="{2E221207-005F-49CB-81E1-6D036D64322B}" destId="{74C57BFD-B3CB-46A5-B834-89232FAD9340}" srcOrd="0" destOrd="2" presId="urn:microsoft.com/office/officeart/2005/8/layout/vList3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5CC8C47E-676E-4FA6-B43F-773DEDC2F405}" type="presOf" srcId="{78BFB295-8F5D-4286-B72B-79142F8F0E13}" destId="{74C57BFD-B3CB-46A5-B834-89232FAD9340}" srcOrd="0" destOrd="0" presId="urn:microsoft.com/office/officeart/2005/8/layout/vList3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9A4347A7-6F9E-4A3C-B97A-98D25DDCC620}" type="presOf" srcId="{D868444B-AE34-4422-A6A5-1F7D392D0C20}" destId="{74C57BFD-B3CB-46A5-B834-89232FAD9340}" srcOrd="0" destOrd="1" presId="urn:microsoft.com/office/officeart/2005/8/layout/vList3"/>
    <dgm:cxn modelId="{C55216BC-C5CF-44FB-AA8A-5F87B60B0327}" type="presOf" srcId="{D546635F-000B-49DF-BB26-293CCA777400}" destId="{55C12D7E-1452-455E-94B1-40122A5AB184}" srcOrd="0" destOrd="2" presId="urn:microsoft.com/office/officeart/2005/8/layout/vList3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1C3272C9-C630-4D60-B76B-138907BB4D41}" srcId="{78BFB295-8F5D-4286-B72B-79142F8F0E13}" destId="{2E221207-005F-49CB-81E1-6D036D64322B}" srcOrd="1" destOrd="0" parTransId="{B200B6AA-AA2A-4CB8-80FF-4BB54938E8A5}" sibTransId="{3728DB5E-E904-481D-A1E5-49CF4AFFC0D3}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80915EE7-DB45-412B-AA01-B90B3598CDFB}" type="presOf" srcId="{A2BD12B5-7AB5-4859-B57E-1E77C0ED35DF}" destId="{55C12D7E-1452-455E-94B1-40122A5AB184}" srcOrd="0" destOrd="1" presId="urn:microsoft.com/office/officeart/2005/8/layout/vList3"/>
    <dgm:cxn modelId="{AC0A7FF3-EEC4-470A-823E-BF7AF1556A99}" srcId="{99FF0D0F-282A-4030-9AF5-3B7621881539}" destId="{D546635F-000B-49DF-BB26-293CCA777400}" srcOrd="1" destOrd="0" parTransId="{5437D343-BECF-4620-B6C7-7088D8BBD91B}" sibTransId="{B01A0825-9EDF-4B9A-B345-1B486D914AD4}"/>
    <dgm:cxn modelId="{5F0AB7CD-2D34-4C24-B844-65B04C6D23DC}" type="presParOf" srcId="{E77C99FF-9D04-40F5-8578-8023E0F56E50}" destId="{F5179BF1-39B0-4ED2-A988-772010AE20DF}" srcOrd="0" destOrd="0" presId="urn:microsoft.com/office/officeart/2005/8/layout/vList3"/>
    <dgm:cxn modelId="{B9B4ACF3-5D78-4776-AD1D-5A778FDF5FB5}" type="presParOf" srcId="{F5179BF1-39B0-4ED2-A988-772010AE20DF}" destId="{1B66C8D7-A18D-4A3A-BAB3-E58F5BDDC35C}" srcOrd="0" destOrd="0" presId="urn:microsoft.com/office/officeart/2005/8/layout/vList3"/>
    <dgm:cxn modelId="{DCE49628-34FC-413D-9652-218FF05347D9}" type="presParOf" srcId="{F5179BF1-39B0-4ED2-A988-772010AE20DF}" destId="{74C57BFD-B3CB-46A5-B834-89232FAD9340}" srcOrd="1" destOrd="0" presId="urn:microsoft.com/office/officeart/2005/8/layout/vList3"/>
    <dgm:cxn modelId="{4EEC9A7B-9B7B-46C2-AA90-684C48322E31}" type="presParOf" srcId="{E77C99FF-9D04-40F5-8578-8023E0F56E50}" destId="{D8CB83BB-CBD6-4A77-930B-C5CFFB5F28E9}" srcOrd="1" destOrd="0" presId="urn:microsoft.com/office/officeart/2005/8/layout/vList3"/>
    <dgm:cxn modelId="{B1DE07F7-0070-44BE-A07F-D43CE3F9A325}" type="presParOf" srcId="{E77C99FF-9D04-40F5-8578-8023E0F56E50}" destId="{6EDF432B-BED5-4A21-893B-1A10E64118C8}" srcOrd="2" destOrd="0" presId="urn:microsoft.com/office/officeart/2005/8/layout/vList3"/>
    <dgm:cxn modelId="{5CFD86D9-7F89-4742-9FE0-BFF284C00F54}" type="presParOf" srcId="{6EDF432B-BED5-4A21-893B-1A10E64118C8}" destId="{D681097F-95D8-44DC-975E-46E914CE7B5C}" srcOrd="0" destOrd="0" presId="urn:microsoft.com/office/officeart/2005/8/layout/vList3"/>
    <dgm:cxn modelId="{C1ABD1DB-51FE-483D-BDF1-8A1AA7C6CF72}" type="presParOf" srcId="{6EDF432B-BED5-4A21-893B-1A10E64118C8}" destId="{0F9B1E78-A591-4BD9-AEDF-46D2D3F09897}" srcOrd="1" destOrd="0" presId="urn:microsoft.com/office/officeart/2005/8/layout/vList3"/>
    <dgm:cxn modelId="{33DCA432-ECA2-4488-9AAF-3E3F3FF47E0A}" type="presParOf" srcId="{E77C99FF-9D04-40F5-8578-8023E0F56E50}" destId="{4FC70210-8583-4DC4-85DC-91B93BD79A70}" srcOrd="3" destOrd="0" presId="urn:microsoft.com/office/officeart/2005/8/layout/vList3"/>
    <dgm:cxn modelId="{A233B6F9-2AC5-4E5C-98A3-C941577AFA21}" type="presParOf" srcId="{E77C99FF-9D04-40F5-8578-8023E0F56E50}" destId="{FBCB7561-6910-4890-AF96-A4508F36D414}" srcOrd="4" destOrd="0" presId="urn:microsoft.com/office/officeart/2005/8/layout/vList3"/>
    <dgm:cxn modelId="{EF7B210D-3D8B-44FC-8358-B5064117CBAF}" type="presParOf" srcId="{FBCB7561-6910-4890-AF96-A4508F36D414}" destId="{2D5FBDDD-704A-4400-B863-4B5B31AA72E6}" srcOrd="0" destOrd="0" presId="urn:microsoft.com/office/officeart/2005/8/layout/vList3"/>
    <dgm:cxn modelId="{CEC6CDDE-5910-4D16-9445-4E83FC1F401B}" type="presParOf" srcId="{FBCB7561-6910-4890-AF96-A4508F36D414}" destId="{55C12D7E-1452-455E-94B1-40122A5AB184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C57BFD-B3CB-46A5-B834-89232FAD9340}">
      <dsp:nvSpPr>
        <dsp:cNvPr id="0" name=""/>
        <dsp:cNvSpPr/>
      </dsp:nvSpPr>
      <dsp:spPr>
        <a:xfrm rot="10800000">
          <a:off x="1580781" y="1445"/>
          <a:ext cx="5076273" cy="1208686"/>
        </a:xfrm>
        <a:prstGeom prst="homePlat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2997" tIns="87630" rIns="163576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300" kern="1200" dirty="0"/>
            <a:t>Antonio Jara</a:t>
          </a:r>
          <a:endParaRPr lang="es-CL" sz="23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800" kern="1200" dirty="0"/>
            <a:t>Cargo</a:t>
          </a:r>
          <a:endParaRPr lang="es-CL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800" kern="1200" dirty="0"/>
            <a:t>Funciones desempeñadas</a:t>
          </a:r>
          <a:endParaRPr lang="es-CL" sz="1800" kern="1200" dirty="0"/>
        </a:p>
      </dsp:txBody>
      <dsp:txXfrm rot="10800000">
        <a:off x="1882952" y="1445"/>
        <a:ext cx="4774102" cy="1208686"/>
      </dsp:txXfrm>
    </dsp:sp>
    <dsp:sp modelId="{1B66C8D7-A18D-4A3A-BAB3-E58F5BDDC35C}">
      <dsp:nvSpPr>
        <dsp:cNvPr id="0" name=""/>
        <dsp:cNvSpPr/>
      </dsp:nvSpPr>
      <dsp:spPr>
        <a:xfrm>
          <a:off x="976438" y="1445"/>
          <a:ext cx="1208686" cy="1208686"/>
        </a:xfrm>
        <a:prstGeom prst="ellipse">
          <a:avLst/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9B1E78-A591-4BD9-AEDF-46D2D3F09897}">
      <dsp:nvSpPr>
        <dsp:cNvPr id="0" name=""/>
        <dsp:cNvSpPr/>
      </dsp:nvSpPr>
      <dsp:spPr>
        <a:xfrm rot="10800000">
          <a:off x="1580781" y="1570933"/>
          <a:ext cx="5076273" cy="1208686"/>
        </a:xfrm>
        <a:prstGeom prst="homePlat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2997" tIns="87630" rIns="163576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300" kern="1200" dirty="0"/>
            <a:t>Antonella Castillo</a:t>
          </a:r>
          <a:endParaRPr lang="es-CL" sz="23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800" kern="1200" dirty="0"/>
            <a:t>Cargo</a:t>
          </a:r>
          <a:endParaRPr lang="es-CL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800" kern="1200" dirty="0"/>
            <a:t>Funciones desempeñadas</a:t>
          </a:r>
          <a:endParaRPr lang="es-CL" sz="1800" kern="1200" dirty="0"/>
        </a:p>
      </dsp:txBody>
      <dsp:txXfrm rot="10800000">
        <a:off x="1882952" y="1570933"/>
        <a:ext cx="4774102" cy="1208686"/>
      </dsp:txXfrm>
    </dsp:sp>
    <dsp:sp modelId="{D681097F-95D8-44DC-975E-46E914CE7B5C}">
      <dsp:nvSpPr>
        <dsp:cNvPr id="0" name=""/>
        <dsp:cNvSpPr/>
      </dsp:nvSpPr>
      <dsp:spPr>
        <a:xfrm>
          <a:off x="976438" y="1570933"/>
          <a:ext cx="1208686" cy="1208686"/>
        </a:xfrm>
        <a:prstGeom prst="ellipse">
          <a:avLst/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C12D7E-1452-455E-94B1-40122A5AB184}">
      <dsp:nvSpPr>
        <dsp:cNvPr id="0" name=""/>
        <dsp:cNvSpPr/>
      </dsp:nvSpPr>
      <dsp:spPr>
        <a:xfrm rot="10800000">
          <a:off x="1580781" y="3140421"/>
          <a:ext cx="5076273" cy="1208686"/>
        </a:xfrm>
        <a:prstGeom prst="homePlat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2997" tIns="87630" rIns="163576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300" kern="1200" dirty="0"/>
            <a:t>Florencia Soto</a:t>
          </a:r>
          <a:endParaRPr lang="es-CL" sz="23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800" kern="1200" dirty="0"/>
            <a:t>Cargo</a:t>
          </a:r>
          <a:endParaRPr lang="es-CL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800" kern="1200" dirty="0"/>
            <a:t>Funciones desempeñadas</a:t>
          </a:r>
          <a:endParaRPr lang="es-CL" sz="1800" kern="1200" dirty="0"/>
        </a:p>
      </dsp:txBody>
      <dsp:txXfrm rot="10800000">
        <a:off x="1882952" y="3140421"/>
        <a:ext cx="4774102" cy="1208686"/>
      </dsp:txXfrm>
    </dsp:sp>
    <dsp:sp modelId="{2D5FBDDD-704A-4400-B863-4B5B31AA72E6}">
      <dsp:nvSpPr>
        <dsp:cNvPr id="0" name=""/>
        <dsp:cNvSpPr/>
      </dsp:nvSpPr>
      <dsp:spPr>
        <a:xfrm>
          <a:off x="976438" y="3140421"/>
          <a:ext cx="1208686" cy="1208686"/>
        </a:xfrm>
        <a:prstGeom prst="ellipse">
          <a:avLst/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4529" y="495097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“EL MIRADOR”</a:t>
            </a:r>
          </a:p>
          <a:p>
            <a:pPr algn="ctr"/>
            <a:r>
              <a:rPr lang="es-MX" sz="2400" dirty="0"/>
              <a:t>INGENIERÍA DE SOFTWARE | RQY1102</a:t>
            </a:r>
            <a:endParaRPr lang="es-CL" sz="2400" dirty="0"/>
          </a:p>
        </p:txBody>
      </p:sp>
      <p:pic>
        <p:nvPicPr>
          <p:cNvPr id="2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940DD14E-9A2F-BEB9-BA28-E596FDF87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963" y="4463247"/>
            <a:ext cx="4536009" cy="1144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376473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“EL MIRADOR”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INTEGRANTES, ROLES Y TIPO DE ORGANIZACIÓN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“EL MIRADOR”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Y PROPUESTA DE SOLUCIÓN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/ Necesidad del Cliente</a:t>
            </a:r>
          </a:p>
          <a:p>
            <a:pPr lvl="0" algn="just"/>
            <a:endParaRPr lang="es-MX" u="sng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CL" sz="1600" dirty="0"/>
              <a:t>Edificio El Mirador cuenta con 160 unidades departamentales, el 60% son propietarios y el 40% arrendatarios.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CL" sz="1600" dirty="0"/>
              <a:t>Procesos administrativos manuales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CL" sz="1600" dirty="0"/>
              <a:t>Ausencia de </a:t>
            </a:r>
            <a:r>
              <a:rPr lang="es-MX" sz="1600" dirty="0"/>
              <a:t>sistema automatizado para la gestión de gastos comunes, pagos, notificaciones y comunicación con los residentes. </a:t>
            </a:r>
            <a:endParaRPr lang="es-CL" sz="16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CL" sz="1600" dirty="0"/>
              <a:t>Morosidad recurrente y falta de transparencia.</a:t>
            </a:r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 de Software</a:t>
            </a:r>
          </a:p>
          <a:p>
            <a:pPr lvl="0" algn="just"/>
            <a:endParaRPr lang="es-MX" u="sng" dirty="0"/>
          </a:p>
          <a:p>
            <a:pPr lvl="0" algn="just"/>
            <a:r>
              <a:rPr lang="es-CL" sz="1600" dirty="0"/>
              <a:t>Plataforma web que automatiza la administración del edificio, implementando arquitectura basada en microservicios que contemplan 7 ámbitos funcionales.</a:t>
            </a:r>
          </a:p>
          <a:p>
            <a:pPr marL="342900" lvl="0" indent="-342900" algn="just">
              <a:buAutoNum type="arabicPeriod"/>
            </a:pPr>
            <a:r>
              <a:rPr lang="es-MX" sz="1600" dirty="0"/>
              <a:t>Gestión de Usuarios y Acceso</a:t>
            </a:r>
          </a:p>
          <a:p>
            <a:pPr marL="342900" lvl="0" indent="-342900" algn="just">
              <a:buAutoNum type="arabicPeriod"/>
            </a:pPr>
            <a:r>
              <a:rPr lang="es-MX" sz="1600" dirty="0"/>
              <a:t>Gestión de Residentes y Unidades</a:t>
            </a:r>
          </a:p>
          <a:p>
            <a:pPr marL="342900" lvl="0" indent="-342900" algn="just">
              <a:buAutoNum type="arabicPeriod"/>
            </a:pPr>
            <a:r>
              <a:rPr lang="es-MX" sz="1600" dirty="0"/>
              <a:t>Gestión Financiera y Cobranza</a:t>
            </a:r>
          </a:p>
          <a:p>
            <a:pPr marL="342900" lvl="0" indent="-342900" algn="just">
              <a:buAutoNum type="arabicPeriod"/>
            </a:pPr>
            <a:r>
              <a:rPr lang="es-MX" sz="1600" dirty="0"/>
              <a:t>Notificaciones y Comunicaciones</a:t>
            </a:r>
          </a:p>
          <a:p>
            <a:pPr marL="342900" lvl="0" indent="-342900" algn="just">
              <a:buAutoNum type="arabicPeriod"/>
            </a:pPr>
            <a:r>
              <a:rPr lang="es-MX" sz="1600" dirty="0"/>
              <a:t>Solicitudes y Atención</a:t>
            </a:r>
          </a:p>
          <a:p>
            <a:pPr marL="342900" lvl="0" indent="-342900" algn="just">
              <a:buAutoNum type="arabicPeriod"/>
            </a:pPr>
            <a:r>
              <a:rPr lang="es-MX" sz="1600" dirty="0"/>
              <a:t>Consultas y Visualización</a:t>
            </a:r>
          </a:p>
          <a:p>
            <a:pPr marL="342900" lvl="0" indent="-342900" algn="just">
              <a:buAutoNum type="arabicPeriod"/>
            </a:pPr>
            <a:r>
              <a:rPr lang="es-MX" sz="1600" dirty="0"/>
              <a:t>Reportes y Análisis </a:t>
            </a:r>
            <a:endParaRPr lang="es-CL" sz="16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CICLO DE VIDA DEL SOFTWARE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Fases aplicadas al proyecto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600" b="1" dirty="0"/>
              <a:t>Metodología:</a:t>
            </a:r>
            <a:r>
              <a:rPr lang="es-MX" sz="1600" dirty="0"/>
              <a:t> Cascada / </a:t>
            </a:r>
            <a:r>
              <a:rPr lang="es-MX" sz="1600" dirty="0" err="1"/>
              <a:t>Waterfall</a:t>
            </a:r>
            <a:endParaRPr lang="es-MX" sz="1600" dirty="0"/>
          </a:p>
          <a:p>
            <a:r>
              <a:rPr lang="es-MX" sz="1600" b="1" dirty="0"/>
              <a:t>Análisis</a:t>
            </a:r>
            <a:r>
              <a:rPr lang="es-MX" sz="1600" dirty="0"/>
              <a:t> → Definición del problema, validación de requisitos y modelado de procesos</a:t>
            </a:r>
            <a:br>
              <a:rPr lang="es-MX" sz="1600" dirty="0"/>
            </a:br>
            <a:r>
              <a:rPr lang="es-CL" sz="1600" b="1" dirty="0"/>
              <a:t>Diseño</a:t>
            </a:r>
            <a:r>
              <a:rPr lang="es-CL" sz="1600" dirty="0"/>
              <a:t> → Arquitectura de microservicios, diagramas UML (4+1) y prototipado de interfaz</a:t>
            </a:r>
          </a:p>
          <a:p>
            <a:r>
              <a:rPr lang="es-MX" sz="1600" b="1" dirty="0"/>
              <a:t>Desarrollo</a:t>
            </a:r>
            <a:r>
              <a:rPr lang="es-MX" sz="1600" dirty="0"/>
              <a:t> → Prototipo funcional de alta fidelidad en </a:t>
            </a:r>
            <a:r>
              <a:rPr lang="es-MX" sz="1600" dirty="0" err="1"/>
              <a:t>Figma</a:t>
            </a:r>
            <a:r>
              <a:rPr lang="es-MX" sz="1600" dirty="0"/>
              <a:t> (RF-01, RF-02, RF-16)</a:t>
            </a:r>
          </a:p>
          <a:p>
            <a:r>
              <a:rPr lang="es-MX" sz="1600" b="1" dirty="0"/>
              <a:t>Pruebas</a:t>
            </a:r>
            <a:r>
              <a:rPr lang="es-MX" sz="1600" dirty="0"/>
              <a:t> → Casos de prueba y evaluación heurística de Nielsen (ISO/IEC 25000)</a:t>
            </a:r>
          </a:p>
          <a:p>
            <a:r>
              <a:rPr lang="es-MX" sz="1600" b="1" dirty="0"/>
              <a:t>Mantenimiento</a:t>
            </a:r>
            <a:r>
              <a:rPr lang="es-MX" sz="1600" dirty="0"/>
              <a:t> → Documentación técnica, control de versiones para mejoras iterativas del prototipo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6" y="4686085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b="1" dirty="0"/>
              <a:t>ISO/IEC 12207</a:t>
            </a:r>
            <a:r>
              <a:rPr lang="es-MX" sz="1600" dirty="0"/>
              <a:t>: especificación del ciclo de vida del software, coherente con la metodología Cascada adoptada.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b="1" dirty="0"/>
              <a:t>IEEE 830</a:t>
            </a:r>
            <a:r>
              <a:rPr lang="es-MX" sz="1600" dirty="0"/>
              <a:t>: estándar de especificación de requisitos funcionales y no funcionales.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b="1" dirty="0"/>
              <a:t>ISO/IEC 25000</a:t>
            </a:r>
            <a:r>
              <a:rPr lang="es-MX" sz="1600" dirty="0"/>
              <a:t>: criterios de calidad evaluados en fase de pruebas (usabilidad, seguridad, rendimiento y mantenibilidad).</a:t>
            </a:r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OBJETIVOS, ALCANCE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88A9D733-6D06-442D-8684-A2DD1C5592D9}"/>
              </a:ext>
            </a:extLst>
          </p:cNvPr>
          <p:cNvSpPr txBox="1"/>
          <p:nvPr/>
        </p:nvSpPr>
        <p:spPr>
          <a:xfrm>
            <a:off x="1039402" y="2078986"/>
            <a:ext cx="1038557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/>
              <a:t>Objetivos: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1600" dirty="0"/>
              <a:t>Optimizar administración del edificio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1600" dirty="0"/>
              <a:t>Automatizar gestión de pagos, cobranza y gastos comunes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1600" dirty="0"/>
              <a:t>Reducir morosidad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1600" dirty="0"/>
              <a:t>Mejorar transparencia con acceso más fácil a la información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CL" sz="1600" dirty="0"/>
          </a:p>
          <a:p>
            <a:r>
              <a:rPr lang="es-CL" sz="1600" dirty="0"/>
              <a:t>Alcance: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1600" dirty="0"/>
              <a:t>Prototipo funcional para dos roles, administrador y usuario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1600" dirty="0"/>
              <a:t>Ámbito funcional central prototipado: Solicitudes y Quejas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CL" sz="1600" dirty="0"/>
          </a:p>
          <a:p>
            <a:r>
              <a:rPr lang="es-CL" sz="1600" dirty="0"/>
              <a:t>Limitaciones: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1600" dirty="0"/>
              <a:t>El prototipo no constituye software funcional, es una validación de diseño en </a:t>
            </a:r>
            <a:r>
              <a:rPr lang="es-MX" sz="1600" dirty="0" err="1"/>
              <a:t>Figma</a:t>
            </a:r>
            <a:endParaRPr lang="es-CL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1600" dirty="0"/>
              <a:t>No se implementaron los módulos como Finanzas , Notificaciones, Reportes ni Información de Unidad</a:t>
            </a:r>
            <a:endParaRPr lang="es-CL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1600" dirty="0"/>
              <a:t>El sistema no fue probado con usuarios reales del edificio</a:t>
            </a:r>
            <a:endParaRPr lang="es-CL" sz="1600" dirty="0"/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ESTRATEGIAS DE GESTIÓN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2F1BA899-DE64-4C4E-886E-2EF7E0D9D295}"/>
              </a:ext>
            </a:extLst>
          </p:cNvPr>
          <p:cNvSpPr txBox="1"/>
          <p:nvPr/>
        </p:nvSpPr>
        <p:spPr>
          <a:xfrm>
            <a:off x="646651" y="2210978"/>
            <a:ext cx="10898695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b="1" dirty="0"/>
              <a:t>Metodología de gestión:</a:t>
            </a:r>
            <a:r>
              <a:rPr lang="es-MX" sz="1600" dirty="0"/>
              <a:t> Modelo Cascada/</a:t>
            </a:r>
            <a:r>
              <a:rPr lang="es-MX" sz="1600" dirty="0" err="1"/>
              <a:t>Waterfall</a:t>
            </a:r>
            <a:r>
              <a:rPr lang="es-MX" sz="1600" dirty="0"/>
              <a:t>, con fases secuenciales y entregables validados al cierre de cada una.</a:t>
            </a:r>
          </a:p>
          <a:p>
            <a:endParaRPr lang="es-MX" sz="1600" dirty="0"/>
          </a:p>
          <a:p>
            <a:r>
              <a:rPr lang="es-MX" sz="1600" b="1" dirty="0"/>
              <a:t>Planificación y estimación:</a:t>
            </a:r>
            <a:endParaRPr lang="es-MX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s-MX" sz="1600" dirty="0"/>
              <a:t>Cronograma estructurado en 18 semanas, agrupadas en 3 fases del proyecto.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600" dirty="0"/>
              <a:t>Estimación de esfuerzo total: </a:t>
            </a:r>
            <a:r>
              <a:rPr lang="es-MX" sz="1600" b="1" dirty="0"/>
              <a:t>496 horas-hombre</a:t>
            </a:r>
            <a:r>
              <a:rPr lang="es-MX" sz="1600" dirty="0"/>
              <a:t>, con un costo estimado de </a:t>
            </a:r>
            <a:r>
              <a:rPr lang="es-MX" sz="1600" b="1" dirty="0"/>
              <a:t>$12.400.000</a:t>
            </a:r>
            <a:r>
              <a:rPr lang="es-MX" sz="16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600" dirty="0"/>
              <a:t>Descomposición del trabajo (EDT) alineada con cada fase del ciclo de vida.</a:t>
            </a:r>
          </a:p>
          <a:p>
            <a:endParaRPr lang="es-MX" sz="1600" b="1" dirty="0"/>
          </a:p>
          <a:p>
            <a:r>
              <a:rPr lang="es-MX" sz="1600" b="1" dirty="0"/>
              <a:t>Gestión de calidad:</a:t>
            </a:r>
            <a:r>
              <a:rPr lang="es-MX" sz="1600" dirty="0"/>
              <a:t> Aseguramiento mediante ISO/IEC 25000 (funcionalidad, usabilidad, seguridad, rendimiento y mantenibilidad) y evaluación heurística de Nielsen, con un plan de pruebas que cruza los casos de prueba (CP) con los principios de calidad.</a:t>
            </a:r>
          </a:p>
          <a:p>
            <a:endParaRPr lang="es-MX" sz="1600" dirty="0"/>
          </a:p>
          <a:p>
            <a:r>
              <a:rPr lang="es-MX" sz="1600" b="1" dirty="0"/>
              <a:t>Control de versiones y trazabilidad:</a:t>
            </a:r>
            <a:endParaRPr lang="es-MX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s-MX" sz="1600" dirty="0"/>
              <a:t>Documentación (DAS) versionada mediante </a:t>
            </a:r>
            <a:r>
              <a:rPr lang="es-MX" sz="1600" b="1" dirty="0"/>
              <a:t>GitHub</a:t>
            </a:r>
            <a:r>
              <a:rPr lang="es-MX" sz="1600" dirty="0"/>
              <a:t> con historial de revisiones.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600" dirty="0"/>
              <a:t>Prototipo con control secuencial basado en estados en </a:t>
            </a:r>
            <a:r>
              <a:rPr lang="es-MX" sz="1600" dirty="0" err="1"/>
              <a:t>Figma</a:t>
            </a:r>
            <a:r>
              <a:rPr lang="es-MX" sz="16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600" dirty="0"/>
              <a:t>Trazabilidad de extremo a extremo: desde los requisitos hasta el prototipo y las pruebas.</a:t>
            </a:r>
          </a:p>
          <a:p>
            <a:pPr>
              <a:buFont typeface="Arial" panose="020B0604020202020204" pitchFamily="34" charset="0"/>
              <a:buChar char="•"/>
            </a:pPr>
            <a:endParaRPr lang="es-MX" sz="1600" dirty="0"/>
          </a:p>
          <a:p>
            <a:r>
              <a:rPr lang="es-MX" sz="1600" b="1" dirty="0"/>
              <a:t>Gestión de riesgos: </a:t>
            </a:r>
            <a:r>
              <a:rPr lang="es-MX" sz="1600" dirty="0"/>
              <a:t>El uso de microservicios reduce el riesgo de acoplamiento y permite ampliaciones futuras sin afectar el sistema central, favoreciendo la mantenibilidad y escalabilidad.</a:t>
            </a:r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945052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PLANIFICACIÓN DEL PROYECTO (EDT + CARTA GANTT)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6DD39C-FB75-44ED-9DD5-3EED7303AC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460008"/>
              </p:ext>
            </p:extLst>
          </p:nvPr>
        </p:nvGraphicFramePr>
        <p:xfrm>
          <a:off x="458598" y="1491594"/>
          <a:ext cx="11274803" cy="5261543"/>
        </p:xfrm>
        <a:graphic>
          <a:graphicData uri="http://schemas.openxmlformats.org/drawingml/2006/table">
            <a:tbl>
              <a:tblPr/>
              <a:tblGrid>
                <a:gridCol w="917644">
                  <a:extLst>
                    <a:ext uri="{9D8B030D-6E8A-4147-A177-3AD203B41FA5}">
                      <a16:colId xmlns:a16="http://schemas.microsoft.com/office/drawing/2014/main" val="469109506"/>
                    </a:ext>
                  </a:extLst>
                </a:gridCol>
                <a:gridCol w="282351">
                  <a:extLst>
                    <a:ext uri="{9D8B030D-6E8A-4147-A177-3AD203B41FA5}">
                      <a16:colId xmlns:a16="http://schemas.microsoft.com/office/drawing/2014/main" val="431372448"/>
                    </a:ext>
                  </a:extLst>
                </a:gridCol>
                <a:gridCol w="2720845">
                  <a:extLst>
                    <a:ext uri="{9D8B030D-6E8A-4147-A177-3AD203B41FA5}">
                      <a16:colId xmlns:a16="http://schemas.microsoft.com/office/drawing/2014/main" val="260518226"/>
                    </a:ext>
                  </a:extLst>
                </a:gridCol>
                <a:gridCol w="750797">
                  <a:extLst>
                    <a:ext uri="{9D8B030D-6E8A-4147-A177-3AD203B41FA5}">
                      <a16:colId xmlns:a16="http://schemas.microsoft.com/office/drawing/2014/main" val="767798420"/>
                    </a:ext>
                  </a:extLst>
                </a:gridCol>
                <a:gridCol w="856706">
                  <a:extLst>
                    <a:ext uri="{9D8B030D-6E8A-4147-A177-3AD203B41FA5}">
                      <a16:colId xmlns:a16="http://schemas.microsoft.com/office/drawing/2014/main" val="4274795478"/>
                    </a:ext>
                  </a:extLst>
                </a:gridCol>
                <a:gridCol w="702648">
                  <a:extLst>
                    <a:ext uri="{9D8B030D-6E8A-4147-A177-3AD203B41FA5}">
                      <a16:colId xmlns:a16="http://schemas.microsoft.com/office/drawing/2014/main" val="4243001452"/>
                    </a:ext>
                  </a:extLst>
                </a:gridCol>
                <a:gridCol w="590374">
                  <a:extLst>
                    <a:ext uri="{9D8B030D-6E8A-4147-A177-3AD203B41FA5}">
                      <a16:colId xmlns:a16="http://schemas.microsoft.com/office/drawing/2014/main" val="1381484000"/>
                    </a:ext>
                  </a:extLst>
                </a:gridCol>
                <a:gridCol w="551870">
                  <a:extLst>
                    <a:ext uri="{9D8B030D-6E8A-4147-A177-3AD203B41FA5}">
                      <a16:colId xmlns:a16="http://schemas.microsoft.com/office/drawing/2014/main" val="396091925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2850715782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988830254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1047245285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885962655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1633371370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654987108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2146838050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2499310042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3296524602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3026880108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1822787201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915984669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2200832309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1181540688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2840453426"/>
                    </a:ext>
                  </a:extLst>
                </a:gridCol>
                <a:gridCol w="243848">
                  <a:extLst>
                    <a:ext uri="{9D8B030D-6E8A-4147-A177-3AD203B41FA5}">
                      <a16:colId xmlns:a16="http://schemas.microsoft.com/office/drawing/2014/main" val="3968135770"/>
                    </a:ext>
                  </a:extLst>
                </a:gridCol>
              </a:tblGrid>
              <a:tr h="214785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Fase del Desarrollo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ID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TAREA / ACTIVIDAD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DURACION (HORAS-HOMBRE)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INICIO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TÉRMINO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COSTO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3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5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7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8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9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10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11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12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13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14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15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 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7073410"/>
                  </a:ext>
                </a:extLst>
              </a:tr>
              <a:tr h="136280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Planificación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Definir el problema de gestión del edificio.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Gestor de Proyecto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 dirty="0" err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</a:t>
                      </a:r>
                      <a:r>
                        <a:rPr lang="es-CL" sz="600" b="0" dirty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5241452"/>
                  </a:ext>
                </a:extLst>
              </a:tr>
              <a:tr h="136280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Planificación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Estructurar el equipo y planificar el cronograma (Gantt).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 dirty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Gestor de Proyecto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468373"/>
                  </a:ext>
                </a:extLst>
              </a:tr>
              <a:tr h="136280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Análisis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Levantar y validar requisitos bajo normas IEEE 830.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Analista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3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5431313"/>
                  </a:ext>
                </a:extLst>
              </a:tr>
              <a:tr h="272558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Análisis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Modelado de Procesos del Negocio: Modelar los flujos de información y flujos operativos del edificio (Diagramas de Procesos As-Is y To-Be).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Analista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3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837826"/>
                  </a:ext>
                </a:extLst>
              </a:tr>
              <a:tr h="214785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Seleccionar el patron implementado (Microservicios) y definir atributos de calidad.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5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8560485"/>
                  </a:ext>
                </a:extLst>
              </a:tr>
              <a:tr h="214785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Elaborar diagramas UML de las Vistas Lógica y de Escenarios (Casos de Uso, Clases, Secuencia, Comunicación).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Diseñador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5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9557681"/>
                  </a:ext>
                </a:extLst>
              </a:tr>
              <a:tr h="272558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3.3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Elaborar diagramas UML de las Vistas de Desarrollo, Procesos y Física (Componentes, Paquetes, Actividades, Despliegue).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Diseñador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7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509420"/>
                  </a:ext>
                </a:extLst>
              </a:tr>
              <a:tr h="204420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Modelar la BD y diseñar prototipos de la interfaz.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DBA / Diseñador UX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7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7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598704"/>
                  </a:ext>
                </a:extLst>
              </a:tr>
              <a:tr h="272558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Desarrollo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Core: Codificar bases del sistema, persistencia y control de acceso por roles, entregando el microservicio funcional MS_Core.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Desarrollador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8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9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6660629"/>
                  </a:ext>
                </a:extLst>
              </a:tr>
              <a:tr h="272558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Desarrollo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Gestión Base: Implementar módulos esenciales (Residentes, Unidades) asegurando la operatividad de los requisitos funcionales RF-01 a RF-10.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Desarrollador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9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6702304"/>
                  </a:ext>
                </a:extLst>
              </a:tr>
              <a:tr h="340698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Desarrollo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4.3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Lógica Transaccional: Desarrollar los servicios financieros complejos (gastos comunes), garantizando tolerancia a fallos y precisión monetaria exacta en MS_Finanzas.jar.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Desarrollador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8766907"/>
                  </a:ext>
                </a:extLst>
              </a:tr>
              <a:tr h="322178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Desarrollo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Mensajería Asíncrona: Implementar en los módulos comunicación desacoplada mediante un Bus de Eventos (EventBus) e integrar MS_Notificaciones.jar.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Desarrollador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7897796"/>
                  </a:ext>
                </a:extLst>
              </a:tr>
              <a:tr h="340698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Desarrollo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4.5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Interfaz y Consolidación: Desarrollar la interfaz (Web/Móvil responsivo) e integrar el API Gateway encargado de dirigir el tráfico de manera segura hacia el backend.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Desarrollador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4139977"/>
                  </a:ext>
                </a:extLst>
              </a:tr>
              <a:tr h="272558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 de Componentes e Integración: Ejecución automatizada de pruebas unitarias y de integración entre microservicios.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Tester / QA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13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13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5444470"/>
                  </a:ext>
                </a:extLst>
              </a:tr>
              <a:tr h="322178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Evaluación Heurística de Nielsen: Aplicar las heurísticas y pruebas de usabilidad con usuarios reales para consolidar las métricas de calidad esperadas.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Diseñador UX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7848746"/>
                  </a:ext>
                </a:extLst>
              </a:tr>
              <a:tr h="214785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5.3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 dirty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Conducir sesiones de validación en entornos </a:t>
                      </a:r>
                      <a:r>
                        <a:rPr lang="es-MX" sz="600" b="1" dirty="0" err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pre-productivos</a:t>
                      </a:r>
                      <a:r>
                        <a:rPr lang="es-MX" sz="600" b="1" dirty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 los </a:t>
                      </a:r>
                      <a:r>
                        <a:rPr lang="es-MX" sz="600" b="1" dirty="0" err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stakeholders</a:t>
                      </a:r>
                      <a:r>
                        <a:rPr lang="es-MX" sz="600" b="1" dirty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del edificio.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Gestor / QA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1572537"/>
                  </a:ext>
                </a:extLst>
              </a:tr>
              <a:tr h="340698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Mitigación de Defectos y Regresión: Corrección estricta de bugs detectados y escaneo de código estático para garantizar una entrega sin vulnerabilidades críticas.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Desarrollador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15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15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4296434"/>
                  </a:ext>
                </a:extLst>
              </a:tr>
              <a:tr h="136280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Despliegue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Configurar infraestructura cloud y desplegar el ecosistema en producción.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Ing. DevOps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15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478319"/>
                  </a:ext>
                </a:extLst>
              </a:tr>
              <a:tr h="214785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Mantenimiento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7.1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Redactar manuales técnicos, documentación de la API y guías de mantenimiento preventivo/correctivo.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235307"/>
                  </a:ext>
                </a:extLst>
              </a:tr>
              <a:tr h="272558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Mantenimiento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7.2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MX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Ejecutar las jornadas formativas certificadas para los administradores del edificio, entrega de credenciales maestras y firma del Cierre del Proyecto.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Gestor / Analista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Sem 16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4702286"/>
                  </a:ext>
                </a:extLst>
              </a:tr>
              <a:tr h="136280"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TOTALES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1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496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s-CL" sz="600" b="0">
                          <a:solidFill>
                            <a:srgbClr val="1F1F1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12400000</a:t>
                      </a: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endParaRPr lang="es-CL" sz="6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044" marR="6044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8109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-1" y="1016933"/>
            <a:ext cx="121919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 SOFTWARE - MODELO 4+1 (UML)</a:t>
            </a:r>
          </a:p>
          <a:p>
            <a:pPr algn="ctr"/>
            <a:r>
              <a:rPr lang="es-MX" sz="3600" dirty="0"/>
              <a:t>Vista Escenarios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D354EB11-DDBC-495A-98F8-F6ABB2C3E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2404" y="2217262"/>
            <a:ext cx="7727188" cy="456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709687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 SOFTWARE - MODELO 4+1 (UML)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8594D829-9EA8-4D24-BFE3-CFA59A01E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9358" y="2100604"/>
            <a:ext cx="7553281" cy="4549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211675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01266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Vista Lógica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F844FA26-5A47-4CB2-82B3-0564DFDD25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83" y="2058722"/>
            <a:ext cx="11716034" cy="393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002497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22692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Vista de Desarrollo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E8F5DF11-A53A-4B0C-BE75-E088E29A92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37" y="2518739"/>
            <a:ext cx="12013926" cy="272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287339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-1" y="1085457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Vista de Procesos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60878716-64AD-4854-977A-B9978F4A32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1174" y="1712866"/>
            <a:ext cx="1669408" cy="5083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46958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016933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Vista Física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EBD84321-F815-4B6E-9635-9F7E785F00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59" y="1687295"/>
            <a:ext cx="8534554" cy="5110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114466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REQUISITOS FUNCIONALES Y NO FUNCIONALES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E9F05C5F-4C6C-407D-92F6-EBF7C40A3B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4209656"/>
              </p:ext>
            </p:extLst>
          </p:nvPr>
        </p:nvGraphicFramePr>
        <p:xfrm>
          <a:off x="928380" y="2217602"/>
          <a:ext cx="10335237" cy="4023360"/>
        </p:xfrm>
        <a:graphic>
          <a:graphicData uri="http://schemas.openxmlformats.org/drawingml/2006/table">
            <a:tbl>
              <a:tblPr/>
              <a:tblGrid>
                <a:gridCol w="731804">
                  <a:extLst>
                    <a:ext uri="{9D8B030D-6E8A-4147-A177-3AD203B41FA5}">
                      <a16:colId xmlns:a16="http://schemas.microsoft.com/office/drawing/2014/main" val="589099464"/>
                    </a:ext>
                  </a:extLst>
                </a:gridCol>
                <a:gridCol w="353905">
                  <a:extLst>
                    <a:ext uri="{9D8B030D-6E8A-4147-A177-3AD203B41FA5}">
                      <a16:colId xmlns:a16="http://schemas.microsoft.com/office/drawing/2014/main" val="490019931"/>
                    </a:ext>
                  </a:extLst>
                </a:gridCol>
                <a:gridCol w="761797">
                  <a:extLst>
                    <a:ext uri="{9D8B030D-6E8A-4147-A177-3AD203B41FA5}">
                      <a16:colId xmlns:a16="http://schemas.microsoft.com/office/drawing/2014/main" val="2637024342"/>
                    </a:ext>
                  </a:extLst>
                </a:gridCol>
                <a:gridCol w="613266">
                  <a:extLst>
                    <a:ext uri="{9D8B030D-6E8A-4147-A177-3AD203B41FA5}">
                      <a16:colId xmlns:a16="http://schemas.microsoft.com/office/drawing/2014/main" val="3951107159"/>
                    </a:ext>
                  </a:extLst>
                </a:gridCol>
                <a:gridCol w="956345">
                  <a:extLst>
                    <a:ext uri="{9D8B030D-6E8A-4147-A177-3AD203B41FA5}">
                      <a16:colId xmlns:a16="http://schemas.microsoft.com/office/drawing/2014/main" val="3459603992"/>
                    </a:ext>
                  </a:extLst>
                </a:gridCol>
                <a:gridCol w="1057689">
                  <a:extLst>
                    <a:ext uri="{9D8B030D-6E8A-4147-A177-3AD203B41FA5}">
                      <a16:colId xmlns:a16="http://schemas.microsoft.com/office/drawing/2014/main" val="2930137361"/>
                    </a:ext>
                  </a:extLst>
                </a:gridCol>
                <a:gridCol w="5860431">
                  <a:extLst>
                    <a:ext uri="{9D8B030D-6E8A-4147-A177-3AD203B41FA5}">
                      <a16:colId xmlns:a16="http://schemas.microsoft.com/office/drawing/2014/main" val="3678011104"/>
                    </a:ext>
                  </a:extLst>
                </a:gridCol>
              </a:tblGrid>
              <a:tr h="798438"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 dirty="0">
                          <a:effectLst/>
                          <a:latin typeface="Google Sans Text"/>
                        </a:rPr>
                        <a:t>Gestión de Notificaciones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RF-13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Notificaciones múltiples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solidFill>
                            <a:srgbClr val="2C481F"/>
                          </a:solidFill>
                          <a:effectLst/>
                          <a:latin typeface="Google Sans Text"/>
                        </a:rPr>
                        <a:t>Funcional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Administrador, Residente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 dirty="0">
                          <a:effectLst/>
                          <a:latin typeface="Google Sans Text"/>
                        </a:rPr>
                        <a:t>El sistema debe permitir el envío de notificaciones a múltiples usuarios relacionados con una propiedad.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 dirty="0">
                          <a:effectLst/>
                          <a:latin typeface="Google Sans Text"/>
                        </a:rPr>
                        <a:t>1. El sistema debe enviar notificaciones a todos los usuarios asociados a una misma unidad habitacional, como propietario y arrendatario, de manera simultánea.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376070"/>
                  </a:ext>
                </a:extLst>
              </a:tr>
              <a:tr h="1023519"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 dirty="0">
                          <a:effectLst/>
                          <a:latin typeface="Google Sans Text"/>
                        </a:rPr>
                        <a:t>Gestión de Solicitudes y Atención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RF-15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Registro de solicitudes de mantenimiento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solidFill>
                            <a:srgbClr val="2C481F"/>
                          </a:solidFill>
                          <a:effectLst/>
                          <a:latin typeface="Google Sans Text"/>
                        </a:rPr>
                        <a:t>Funcional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Residente, Personal, Administrador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>
                          <a:effectLst/>
                          <a:latin typeface="Google Sans Text"/>
                        </a:rPr>
                        <a:t>El sistema debe permitir el registro, actualización y cierre (desactivación) de solicitudes.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 dirty="0">
                          <a:effectLst/>
                          <a:latin typeface="Google Sans Text"/>
                        </a:rPr>
                        <a:t>1. El sistema debe permitir registrar solicitudes de mantenimiento indicando asunto, detalle y fecha.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2. El sistema debe permitir actualizar el estado de las solicitudes en las categorías Abierto, En Proceso y Cerrado.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3. El administrador debe poder asignar un nivel de urgencia a cada solicitud de mantenimiento.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4. El sistema debe permitir asociar gastos de mantenimiento como gastos extraordinarios o individuales según corresponda (Ver RF-08).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5. El sistema debe permitir asignar un responsable y registrar observaciones asociadas a la solicitud.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6. Al cerrarse una solicitud, el sistema debe conservarla en el historial para permitir consultas y generación de reportes posteriores.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3670938"/>
                  </a:ext>
                </a:extLst>
              </a:tr>
              <a:tr h="830448"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>
                          <a:effectLst/>
                          <a:latin typeface="Google Sans Text"/>
                        </a:rPr>
                        <a:t>Gestión de Solicitudes y Atención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RF-16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>
                          <a:effectLst/>
                          <a:latin typeface="Google Sans Text"/>
                        </a:rPr>
                        <a:t>Gestión de solicitudes de quejas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solidFill>
                            <a:srgbClr val="2C481F"/>
                          </a:solidFill>
                          <a:effectLst/>
                          <a:latin typeface="Google Sans Text"/>
                        </a:rPr>
                        <a:t>Funcional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Residente, Administrador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>
                          <a:effectLst/>
                          <a:latin typeface="Google Sans Text"/>
                        </a:rPr>
                        <a:t>El sistema debe permitir el registro, actualización y cierre (desactivación) de reclamos.</a:t>
                      </a:r>
                      <a:br>
                        <a:rPr lang="es-MX" sz="1100" b="0">
                          <a:effectLst/>
                          <a:latin typeface="Google Sans Text"/>
                        </a:rPr>
                      </a:br>
                      <a:endParaRPr lang="es-MX" sz="1100" b="0">
                        <a:effectLst/>
                        <a:latin typeface="Google Sans Text"/>
                      </a:endParaRP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 dirty="0">
                          <a:effectLst/>
                          <a:latin typeface="Google Sans Text"/>
                        </a:rPr>
                        <a:t>1. El sistema debe permitir registrar quejas indicando asunto, detalle y fecha.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2. El sistema debe permitir responder y actualizar el estado de las quejas en las categorías Abierto, En Proceso y Cerrado.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3. El administrador debe poder asignar un nivel de urgencia a cada queja.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4. El sistema debe permitir asociar gastos derivados de una queja como gasto extraordinario o individual según corresponda (Ver RF-08).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5. Al cerrarse una queja, el sistema debe conservarla en el historial para permitir consultas y generación de reportes posteriores.</a:t>
                      </a:r>
                    </a:p>
                  </a:txBody>
                  <a:tcPr marL="12250" marR="12250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88237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REQUISITOS FUNCIONALES Y NO FUNCIONALES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E9F05C5F-4C6C-407D-92F6-EBF7C40A3B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8571"/>
              </p:ext>
            </p:extLst>
          </p:nvPr>
        </p:nvGraphicFramePr>
        <p:xfrm>
          <a:off x="727045" y="2200824"/>
          <a:ext cx="10737907" cy="4191000"/>
        </p:xfrm>
        <a:graphic>
          <a:graphicData uri="http://schemas.openxmlformats.org/drawingml/2006/table">
            <a:tbl>
              <a:tblPr/>
              <a:tblGrid>
                <a:gridCol w="838423">
                  <a:extLst>
                    <a:ext uri="{9D8B030D-6E8A-4147-A177-3AD203B41FA5}">
                      <a16:colId xmlns:a16="http://schemas.microsoft.com/office/drawing/2014/main" val="589099464"/>
                    </a:ext>
                  </a:extLst>
                </a:gridCol>
                <a:gridCol w="364815">
                  <a:extLst>
                    <a:ext uri="{9D8B030D-6E8A-4147-A177-3AD203B41FA5}">
                      <a16:colId xmlns:a16="http://schemas.microsoft.com/office/drawing/2014/main" val="490019931"/>
                    </a:ext>
                  </a:extLst>
                </a:gridCol>
                <a:gridCol w="785281">
                  <a:extLst>
                    <a:ext uri="{9D8B030D-6E8A-4147-A177-3AD203B41FA5}">
                      <a16:colId xmlns:a16="http://schemas.microsoft.com/office/drawing/2014/main" val="2637024342"/>
                    </a:ext>
                  </a:extLst>
                </a:gridCol>
                <a:gridCol w="632172">
                  <a:extLst>
                    <a:ext uri="{9D8B030D-6E8A-4147-A177-3AD203B41FA5}">
                      <a16:colId xmlns:a16="http://schemas.microsoft.com/office/drawing/2014/main" val="3951107159"/>
                    </a:ext>
                  </a:extLst>
                </a:gridCol>
                <a:gridCol w="985827">
                  <a:extLst>
                    <a:ext uri="{9D8B030D-6E8A-4147-A177-3AD203B41FA5}">
                      <a16:colId xmlns:a16="http://schemas.microsoft.com/office/drawing/2014/main" val="3459603992"/>
                    </a:ext>
                  </a:extLst>
                </a:gridCol>
                <a:gridCol w="1090295">
                  <a:extLst>
                    <a:ext uri="{9D8B030D-6E8A-4147-A177-3AD203B41FA5}">
                      <a16:colId xmlns:a16="http://schemas.microsoft.com/office/drawing/2014/main" val="2930137361"/>
                    </a:ext>
                  </a:extLst>
                </a:gridCol>
                <a:gridCol w="6041094">
                  <a:extLst>
                    <a:ext uri="{9D8B030D-6E8A-4147-A177-3AD203B41FA5}">
                      <a16:colId xmlns:a16="http://schemas.microsoft.com/office/drawing/2014/main" val="3678011104"/>
                    </a:ext>
                  </a:extLst>
                </a:gridCol>
              </a:tblGrid>
              <a:tr h="798438"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 dirty="0">
                          <a:effectLst/>
                          <a:latin typeface="Google Sans Text"/>
                        </a:rPr>
                        <a:t>Usabilidad y Experiencia de Usuario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RNF-01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Usabilidad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solidFill>
                            <a:srgbClr val="2A3243"/>
                          </a:solidFill>
                          <a:effectLst/>
                          <a:latin typeface="Google Sans Text"/>
                        </a:rPr>
                        <a:t>No Funcional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Administrador, Residente, Personal del Edificio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>
                          <a:effectLst/>
                          <a:latin typeface="Google Sans Text"/>
                        </a:rPr>
                        <a:t>El sistema debe ser intuitivo, fácil de usar y comprensible para usuarios administrativos y residentes con distintos niveles de alfabetización digital.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 dirty="0">
                          <a:effectLst/>
                          <a:latin typeface="Google Sans Text"/>
                        </a:rPr>
                        <a:t>1. Tareas críticas como pagar o descargar cartola realizables en máximo 5 clics.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2. Interfaz diseñada para usuarios con baja alfabetización digital.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376070"/>
                  </a:ext>
                </a:extLst>
              </a:tr>
              <a:tr h="1001534"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Seguridad y Protección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RNF-10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Seguridad de acceso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solidFill>
                            <a:srgbClr val="2A3243"/>
                          </a:solidFill>
                          <a:effectLst/>
                          <a:latin typeface="Google Sans Text"/>
                        </a:rPr>
                        <a:t>No Funcional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Administrador, Residente, Personal del Edificio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>
                          <a:effectLst/>
                          <a:latin typeface="Google Sans Text"/>
                        </a:rPr>
                        <a:t>El sistema debe implementar autenticación segura y control de acceso basado en roles y permisos.</a:t>
                      </a:r>
                      <a:br>
                        <a:rPr lang="es-MX" sz="1100" b="0">
                          <a:effectLst/>
                          <a:latin typeface="Google Sans Text"/>
                        </a:rPr>
                      </a:br>
                      <a:endParaRPr lang="es-MX" sz="1100" b="0">
                        <a:effectLst/>
                        <a:latin typeface="Google Sans Text"/>
                      </a:endParaRP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 dirty="0">
                          <a:effectLst/>
                          <a:latin typeface="Google Sans Text"/>
                        </a:rPr>
                        <a:t>1. El sistema debe exigir autenticación mediante credenciales válidas antes de permitir el acceso a funciones internas.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2. Las contraseñas deben almacenarse de forma segura para evitar accesos no autorizados.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3. El sistema debe restringir el acceso a funciones y módulos según el rol asignado a cada usuario.</a:t>
                      </a:r>
                      <a:br>
                        <a:rPr lang="es-MX" sz="1100" b="0" dirty="0">
                          <a:effectLst/>
                          <a:latin typeface="Google Sans Text"/>
                        </a:rPr>
                      </a:br>
                      <a:r>
                        <a:rPr lang="es-MX" sz="1100" b="0" dirty="0">
                          <a:effectLst/>
                          <a:latin typeface="Google Sans Text"/>
                        </a:rPr>
                        <a:t>4. Las sesiones de usuario deben finalizar automáticamente tras un período de inactividad configurable.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3670938"/>
                  </a:ext>
                </a:extLst>
              </a:tr>
              <a:tr h="830448"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Rendimiento y Capacidad Operativa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RNF-05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Soporte multiusuario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solidFill>
                            <a:srgbClr val="2A3243"/>
                          </a:solidFill>
                          <a:effectLst/>
                          <a:latin typeface="Google Sans Text"/>
                        </a:rPr>
                        <a:t>No Funcional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CL" sz="1100" b="0">
                          <a:effectLst/>
                          <a:latin typeface="Google Sans Text"/>
                        </a:rPr>
                        <a:t>Administrador, Residente, Personal del Edificio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>
                          <a:effectLst/>
                          <a:latin typeface="Google Sans Text"/>
                        </a:rPr>
                        <a:t>El sistema debe permitir el uso simultáneo de múltiples usuarios sin degradación crítica del servicio.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/>
                      <a:r>
                        <a:rPr lang="es-MX" sz="1100" b="0" dirty="0">
                          <a:effectLst/>
                          <a:latin typeface="Google Sans Text"/>
                        </a:rPr>
                        <a:t>1. El sistema debe mantener su funcionamiento ante uso simultáneo elevado, evitando errores como duplicación de pagos.</a:t>
                      </a:r>
                    </a:p>
                  </a:txBody>
                  <a:tcPr marL="28575" marR="28575" marT="0" marB="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88237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0521819"/>
      </p:ext>
    </p:extLst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ESTÁNDARES DE CALIDAD - ISO25000 Y OTROS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a 3">
            <a:extLst>
              <a:ext uri="{FF2B5EF4-FFF2-40B4-BE49-F238E27FC236}">
                <a16:creationId xmlns:a16="http://schemas.microsoft.com/office/drawing/2014/main" id="{9C3F9C4A-EA08-41A4-A049-1EF65C9AAD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5341789"/>
              </p:ext>
            </p:extLst>
          </p:nvPr>
        </p:nvGraphicFramePr>
        <p:xfrm>
          <a:off x="1306585" y="2339878"/>
          <a:ext cx="9578830" cy="36972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769">
                  <a:extLst>
                    <a:ext uri="{9D8B030D-6E8A-4147-A177-3AD203B41FA5}">
                      <a16:colId xmlns:a16="http://schemas.microsoft.com/office/drawing/2014/main" val="479686189"/>
                    </a:ext>
                  </a:extLst>
                </a:gridCol>
                <a:gridCol w="4347410">
                  <a:extLst>
                    <a:ext uri="{9D8B030D-6E8A-4147-A177-3AD203B41FA5}">
                      <a16:colId xmlns:a16="http://schemas.microsoft.com/office/drawing/2014/main" val="947003446"/>
                    </a:ext>
                  </a:extLst>
                </a:gridCol>
                <a:gridCol w="3592651">
                  <a:extLst>
                    <a:ext uri="{9D8B030D-6E8A-4147-A177-3AD203B41FA5}">
                      <a16:colId xmlns:a16="http://schemas.microsoft.com/office/drawing/2014/main" val="243893504"/>
                    </a:ext>
                  </a:extLst>
                </a:gridCol>
              </a:tblGrid>
              <a:tr h="548493">
                <a:tc>
                  <a:txBody>
                    <a:bodyPr/>
                    <a:lstStyle/>
                    <a:p>
                      <a:r>
                        <a:rPr lang="es-CL" sz="1600" dirty="0"/>
                        <a:t>Atributo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Justificación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Implementación en el prototipo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4947093"/>
                  </a:ext>
                </a:extLst>
              </a:tr>
              <a:tr h="548493">
                <a:tc>
                  <a:txBody>
                    <a:bodyPr/>
                    <a:lstStyle/>
                    <a:p>
                      <a:r>
                        <a:rPr lang="es-CL" sz="1600" dirty="0"/>
                        <a:t>Usabilidad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Diversos niveles de alfabetización digital (RNF-01)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Diseño intuitivo, ≤ 5 clics para tareas clave</a:t>
                      </a:r>
                      <a:endParaRPr lang="es-C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88815"/>
                  </a:ext>
                </a:extLst>
              </a:tr>
              <a:tr h="856551">
                <a:tc>
                  <a:txBody>
                    <a:bodyPr/>
                    <a:lstStyle/>
                    <a:p>
                      <a:r>
                        <a:rPr lang="es-CL" sz="1600" dirty="0"/>
                        <a:t>Seguridad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Protección de datos personales y financieros (RNF-10)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Control por roles, vistas diferenciadas </a:t>
                      </a:r>
                      <a:r>
                        <a:rPr lang="es-CL" sz="1600" dirty="0" err="1"/>
                        <a:t>Admin</a:t>
                      </a:r>
                      <a:r>
                        <a:rPr lang="es-CL" sz="1600" dirty="0"/>
                        <a:t>/Residente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9755954"/>
                  </a:ext>
                </a:extLst>
              </a:tr>
              <a:tr h="856551">
                <a:tc>
                  <a:txBody>
                    <a:bodyPr/>
                    <a:lstStyle/>
                    <a:p>
                      <a:r>
                        <a:rPr lang="es-CL" sz="1600" dirty="0"/>
                        <a:t>Rendimiento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Consultas rápidas sin bloqueos (RNF-05)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Carga eficiente, simulación de API Gateway</a:t>
                      </a:r>
                      <a:endParaRPr lang="es-C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3050783"/>
                  </a:ext>
                </a:extLst>
              </a:tr>
              <a:tr h="856551">
                <a:tc>
                  <a:txBody>
                    <a:bodyPr/>
                    <a:lstStyle/>
                    <a:p>
                      <a:r>
                        <a:rPr lang="es-CL" sz="1600" dirty="0"/>
                        <a:t>Mantenibilidad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Sistema preparado para crecer sin afectar operación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Arquitectura basada en microservicios y diseño modular</a:t>
                      </a:r>
                      <a:endParaRPr lang="es-C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0469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PROTOTIPO DE ALTA FIDELIDAD</a:t>
            </a: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992902"/>
            <a:ext cx="12191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HEURÍSTICA DE NIELSEN Y CASOS DE PRUEBA (ISO25000)</a:t>
            </a:r>
          </a:p>
        </p:txBody>
      </p:sp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B6CE06DD-AC44-4C93-A304-A19C6AA289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1538380"/>
              </p:ext>
            </p:extLst>
          </p:nvPr>
        </p:nvGraphicFramePr>
        <p:xfrm>
          <a:off x="787632" y="2696803"/>
          <a:ext cx="10616735" cy="34434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5421">
                  <a:extLst>
                    <a:ext uri="{9D8B030D-6E8A-4147-A177-3AD203B41FA5}">
                      <a16:colId xmlns:a16="http://schemas.microsoft.com/office/drawing/2014/main" val="1407299427"/>
                    </a:ext>
                  </a:extLst>
                </a:gridCol>
                <a:gridCol w="2650438">
                  <a:extLst>
                    <a:ext uri="{9D8B030D-6E8A-4147-A177-3AD203B41FA5}">
                      <a16:colId xmlns:a16="http://schemas.microsoft.com/office/drawing/2014/main" val="1206089780"/>
                    </a:ext>
                  </a:extLst>
                </a:gridCol>
                <a:gridCol w="2650438">
                  <a:extLst>
                    <a:ext uri="{9D8B030D-6E8A-4147-A177-3AD203B41FA5}">
                      <a16:colId xmlns:a16="http://schemas.microsoft.com/office/drawing/2014/main" val="4266827829"/>
                    </a:ext>
                  </a:extLst>
                </a:gridCol>
                <a:gridCol w="2650438">
                  <a:extLst>
                    <a:ext uri="{9D8B030D-6E8A-4147-A177-3AD203B41FA5}">
                      <a16:colId xmlns:a16="http://schemas.microsoft.com/office/drawing/2014/main" val="1666236439"/>
                    </a:ext>
                  </a:extLst>
                </a:gridCol>
              </a:tblGrid>
              <a:tr h="373514">
                <a:tc>
                  <a:txBody>
                    <a:bodyPr/>
                    <a:lstStyle/>
                    <a:p>
                      <a:r>
                        <a:rPr lang="es-CL" sz="16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Módulo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Caso de Prueba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Estado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3794800"/>
                  </a:ext>
                </a:extLst>
              </a:tr>
              <a:tr h="583296">
                <a:tc>
                  <a:txBody>
                    <a:bodyPr/>
                    <a:lstStyle/>
                    <a:p>
                      <a:r>
                        <a:rPr lang="es-CL" sz="1600" dirty="0"/>
                        <a:t>CP-05 / CP-06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 err="1"/>
                        <a:t>Login</a:t>
                      </a:r>
                      <a:r>
                        <a:rPr lang="es-CL" sz="1600" dirty="0"/>
                        <a:t> / Acceso rápido demo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Verificar acceso rápido como Administrador y Residente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Aprobado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0791321"/>
                  </a:ext>
                </a:extLst>
              </a:tr>
              <a:tr h="5832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1600" dirty="0"/>
                        <a:t>CP-25 / CP-60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Navegación </a:t>
                      </a:r>
                      <a:r>
                        <a:rPr lang="es-CL" sz="1600" dirty="0" err="1"/>
                        <a:t>Admin</a:t>
                      </a:r>
                      <a:r>
                        <a:rPr lang="es-CL" sz="1600" dirty="0"/>
                        <a:t> y Residente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Acceso al módulo de Gestión de Quejas desde ambos roles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Aprobado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8365"/>
                  </a:ext>
                </a:extLst>
              </a:tr>
              <a:tr h="828894">
                <a:tc>
                  <a:txBody>
                    <a:bodyPr/>
                    <a:lstStyle/>
                    <a:p>
                      <a:r>
                        <a:rPr lang="es-CL" sz="1600" dirty="0"/>
                        <a:t>CP-73 / CP-74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Registro de Nueva Queja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Apertura del modal y registro exitoso de queja con datos válidos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Aprobado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141326"/>
                  </a:ext>
                </a:extLst>
              </a:tr>
              <a:tr h="1074492">
                <a:tc>
                  <a:txBody>
                    <a:bodyPr/>
                    <a:lstStyle/>
                    <a:p>
                      <a:r>
                        <a:rPr lang="es-CL" sz="1600" dirty="0"/>
                        <a:t>CP-38 a CP-42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Detalle de Queja (</a:t>
                      </a:r>
                      <a:r>
                        <a:rPr lang="es-CL" sz="1600" dirty="0" err="1"/>
                        <a:t>Admin</a:t>
                      </a:r>
                      <a:r>
                        <a:rPr lang="es-CL" sz="16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Visualización de datos, cambio de estado/prioridad, asociación de gasto y respuesta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Aprobado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27333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ACCIONES DE MEJORA Y CONTROL DE VERSIONES</a:t>
            </a:r>
          </a:p>
        </p:txBody>
      </p:sp>
      <p:graphicFrame>
        <p:nvGraphicFramePr>
          <p:cNvPr id="5" name="Tabla 2">
            <a:extLst>
              <a:ext uri="{FF2B5EF4-FFF2-40B4-BE49-F238E27FC236}">
                <a16:creationId xmlns:a16="http://schemas.microsoft.com/office/drawing/2014/main" id="{674ED36B-26C7-4E37-A852-5A25DB03A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444962"/>
              </p:ext>
            </p:extLst>
          </p:nvPr>
        </p:nvGraphicFramePr>
        <p:xfrm>
          <a:off x="1021593" y="2657507"/>
          <a:ext cx="10148814" cy="283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978">
                  <a:extLst>
                    <a:ext uri="{9D8B030D-6E8A-4147-A177-3AD203B41FA5}">
                      <a16:colId xmlns:a16="http://schemas.microsoft.com/office/drawing/2014/main" val="1838267547"/>
                    </a:ext>
                  </a:extLst>
                </a:gridCol>
                <a:gridCol w="3547429">
                  <a:extLst>
                    <a:ext uri="{9D8B030D-6E8A-4147-A177-3AD203B41FA5}">
                      <a16:colId xmlns:a16="http://schemas.microsoft.com/office/drawing/2014/main" val="96183189"/>
                    </a:ext>
                  </a:extLst>
                </a:gridCol>
                <a:gridCol w="4004825">
                  <a:extLst>
                    <a:ext uri="{9D8B030D-6E8A-4147-A177-3AD203B41FA5}">
                      <a16:colId xmlns:a16="http://schemas.microsoft.com/office/drawing/2014/main" val="4130921137"/>
                    </a:ext>
                  </a:extLst>
                </a:gridCol>
                <a:gridCol w="1069582">
                  <a:extLst>
                    <a:ext uri="{9D8B030D-6E8A-4147-A177-3AD203B41FA5}">
                      <a16:colId xmlns:a16="http://schemas.microsoft.com/office/drawing/2014/main" val="4884948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CL" sz="1600" dirty="0"/>
                        <a:t>ID Prueba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Modulo (</a:t>
                      </a:r>
                      <a:r>
                        <a:rPr lang="es-CL" sz="1600" dirty="0" err="1"/>
                        <a:t>Req</a:t>
                      </a:r>
                      <a:r>
                        <a:rPr lang="es-CL" sz="1600" dirty="0"/>
                        <a:t>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Resultado Obtenido e Impacto en Calidad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Estado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72613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sz="1600" dirty="0"/>
                        <a:t>CP-03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Quejas (RF-16)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Permite enviar formularios vacíos sin alerta al usuario (Fallo de Usabilidad - H5: Prevención de errores). 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Falla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437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sz="1600" dirty="0"/>
                        <a:t>CP-01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Quejas (RF-16)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Al cancelar, pierde datos sin confirmación (Fallo de Usabilidad - H9: Recuperación de errores). 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Falla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7498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sz="1600" dirty="0"/>
                        <a:t>CP-08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Quejas (RF-16)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El sistema cierra el formulario tras enviar, sin desplegar éxito (Fallo de Usabilidad - H1: Visibilidad). 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Falla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77104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ACCIONES DE MEJORA Y CONTROL DE VERSIONES</a:t>
            </a:r>
          </a:p>
        </p:txBody>
      </p:sp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38AC61DB-1BAD-44F0-B147-36FA65FD9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488282"/>
              </p:ext>
            </p:extLst>
          </p:nvPr>
        </p:nvGraphicFramePr>
        <p:xfrm>
          <a:off x="1095261" y="2323160"/>
          <a:ext cx="1000147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034">
                  <a:extLst>
                    <a:ext uri="{9D8B030D-6E8A-4147-A177-3AD203B41FA5}">
                      <a16:colId xmlns:a16="http://schemas.microsoft.com/office/drawing/2014/main" val="2674688713"/>
                    </a:ext>
                  </a:extLst>
                </a:gridCol>
                <a:gridCol w="5193507">
                  <a:extLst>
                    <a:ext uri="{9D8B030D-6E8A-4147-A177-3AD203B41FA5}">
                      <a16:colId xmlns:a16="http://schemas.microsoft.com/office/drawing/2014/main" val="2271638159"/>
                    </a:ext>
                  </a:extLst>
                </a:gridCol>
                <a:gridCol w="3916936">
                  <a:extLst>
                    <a:ext uri="{9D8B030D-6E8A-4147-A177-3AD203B41FA5}">
                      <a16:colId xmlns:a16="http://schemas.microsoft.com/office/drawing/2014/main" val="27485117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CL" sz="1600" dirty="0"/>
                        <a:t>Versión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Cambios Funcionales Realizados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Mejora Continua Aportada (Calidad)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7794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sz="1600" dirty="0"/>
                        <a:t>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Traspaso de </a:t>
                      </a:r>
                      <a:r>
                        <a:rPr lang="es-CL" sz="1600" dirty="0" err="1"/>
                        <a:t>Figma</a:t>
                      </a:r>
                      <a:r>
                        <a:rPr lang="es-CL" sz="1600" dirty="0"/>
                        <a:t> </a:t>
                      </a:r>
                      <a:r>
                        <a:rPr lang="es-CL" sz="1600" dirty="0" err="1"/>
                        <a:t>Design</a:t>
                      </a:r>
                      <a:r>
                        <a:rPr lang="es-CL" sz="1600" dirty="0"/>
                        <a:t> a </a:t>
                      </a:r>
                      <a:r>
                        <a:rPr lang="es-CL" sz="1600" dirty="0" err="1"/>
                        <a:t>Figma</a:t>
                      </a:r>
                      <a:r>
                        <a:rPr lang="es-CL" sz="1600" dirty="0"/>
                        <a:t> </a:t>
                      </a:r>
                      <a:r>
                        <a:rPr lang="es-CL" sz="1600" dirty="0" err="1"/>
                        <a:t>Make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Establecimiento de estructura base.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593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sz="1600" dirty="0"/>
                        <a:t>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Refinamiento de estética general </a:t>
                      </a:r>
                      <a:r>
                        <a:rPr lang="es-MX" sz="1600" dirty="0" err="1"/>
                        <a:t>Landing</a:t>
                      </a:r>
                      <a:r>
                        <a:rPr lang="es-MX" sz="1600" dirty="0"/>
                        <a:t> y </a:t>
                      </a:r>
                      <a:r>
                        <a:rPr lang="es-MX" sz="1600" dirty="0" err="1"/>
                        <a:t>Login</a:t>
                      </a:r>
                      <a:r>
                        <a:rPr lang="es-MX" sz="1600" dirty="0"/>
                        <a:t> 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Validación de visuales que potencien la usabilidad. </a:t>
                      </a:r>
                      <a:endParaRPr lang="es-C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4778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sz="1600" dirty="0"/>
                        <a:t>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sz="1600" dirty="0"/>
                        <a:t>Corrección de vistas individuales, implementación de nuevas características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Implementación de Animaciones suaves entre cambios de vista para reducir carga visual </a:t>
                      </a:r>
                      <a:endParaRPr lang="es-C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8270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sz="1600" dirty="0"/>
                        <a:t>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Cambios en disposición de elementos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Disposición espacial que facilita lectura, cambios menores en paleta de colores (contraste adecuado)</a:t>
                      </a:r>
                      <a:endParaRPr lang="es-C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8714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sz="1600" dirty="0"/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Ajustes finales a animaciones y corrección de bug visual </a:t>
                      </a:r>
                      <a:endParaRPr lang="es-CL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Animaciones entre vistas menos pronunciadas. Corregir bug que causaba un parpadeo blanco al cambiar de vista</a:t>
                      </a:r>
                      <a:endParaRPr lang="es-C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78341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746565"/>
      </p:ext>
    </p:extLst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2288</Words>
  <Application>Microsoft Office PowerPoint</Application>
  <PresentationFormat>Widescreen</PresentationFormat>
  <Paragraphs>399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Google Sans Text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Antonio Jara</cp:lastModifiedBy>
  <cp:revision>25</cp:revision>
  <dcterms:created xsi:type="dcterms:W3CDTF">2023-10-28T21:12:11Z</dcterms:created>
  <dcterms:modified xsi:type="dcterms:W3CDTF">2026-07-10T02:07:58Z</dcterms:modified>
</cp:coreProperties>
</file>